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457200" y="1828800"/>
            <a:ext cx="11277295" cy="822960"/>
          </a:xfrm>
          <a:prstGeom prst="rect">
            <a:avLst/>
          </a:prstGeom>
          <a:noFill/>
        </p:spPr>
        <p:txBody>
          <a:bodyPr wrap="square" lIns="0" rIns="0" tIns="0" bIns="0" anchor="t">
            <a:spAutoFit/>
          </a:bodyPr>
          <a:lstStyle/>
          <a:p>
            <a:pPr algn="l"/>
            <a:r>
              <a:rPr sz="4000" b="1">
                <a:solidFill>
                  <a:srgbClr val="FFFFFF"/>
                </a:solidFill>
                <a:latin typeface="Calibri"/>
              </a:rPr>
              <a:t>Qwen3-30B-A3B on MI355X</a:t>
            </a:r>
          </a:p>
        </p:txBody>
      </p:sp>
      <p:sp>
        <p:nvSpPr>
          <p:cNvPr id="3" name="TextBox 2"/>
          <p:cNvSpPr txBox="1"/>
          <p:nvPr/>
        </p:nvSpPr>
        <p:spPr>
          <a:xfrm>
            <a:off x="457200" y="2697480"/>
            <a:ext cx="11277295" cy="640080"/>
          </a:xfrm>
          <a:prstGeom prst="rect">
            <a:avLst/>
          </a:prstGeom>
          <a:noFill/>
        </p:spPr>
        <p:txBody>
          <a:bodyPr wrap="square" lIns="0" rIns="0" tIns="0" bIns="0" anchor="t">
            <a:spAutoFit/>
          </a:bodyPr>
          <a:lstStyle/>
          <a:p>
            <a:pPr algn="l"/>
            <a:r>
              <a:rPr sz="2000" b="0">
                <a:solidFill>
                  <a:srgbClr val="CADCFC"/>
                </a:solidFill>
                <a:latin typeface="Calibri"/>
              </a:rPr>
              <a:t>The linear_op profiling story: three anomalies, three root causes, one clean dataset</a:t>
            </a:r>
          </a:p>
        </p:txBody>
      </p:sp>
      <p:sp>
        <p:nvSpPr>
          <p:cNvPr id="4" name="TextBox 3"/>
          <p:cNvSpPr txBox="1"/>
          <p:nvPr/>
        </p:nvSpPr>
        <p:spPr>
          <a:xfrm>
            <a:off x="457200" y="3840480"/>
            <a:ext cx="11277295" cy="457200"/>
          </a:xfrm>
          <a:prstGeom prst="rect">
            <a:avLst/>
          </a:prstGeom>
          <a:noFill/>
        </p:spPr>
        <p:txBody>
          <a:bodyPr wrap="square" lIns="0" rIns="0" tIns="0" bIns="0" anchor="t">
            <a:spAutoFit/>
          </a:bodyPr>
          <a:lstStyle/>
          <a:p>
            <a:pPr algn="l"/>
            <a:r>
              <a:rPr sz="1400" b="0">
                <a:solidFill>
                  <a:srgbClr val="9FB3D9"/>
                </a:solidFill>
                <a:latin typeface="Calibri"/>
              </a:rPr>
              <a:t>Where we started · what did not make sense · what we found and changed · how the data looks now · what is still open</a:t>
            </a:r>
          </a:p>
        </p:txBody>
      </p:sp>
      <p:sp>
        <p:nvSpPr>
          <p:cNvPr id="5" name="TextBox 4"/>
          <p:cNvSpPr txBox="1"/>
          <p:nvPr/>
        </p:nvSpPr>
        <p:spPr>
          <a:xfrm>
            <a:off x="457200" y="5943600"/>
            <a:ext cx="11277295" cy="365760"/>
          </a:xfrm>
          <a:prstGeom prst="rect">
            <a:avLst/>
          </a:prstGeom>
          <a:noFill/>
        </p:spPr>
        <p:txBody>
          <a:bodyPr wrap="square" lIns="0" rIns="0" tIns="0" bIns="0" anchor="t">
            <a:spAutoFit/>
          </a:bodyPr>
          <a:lstStyle/>
          <a:p>
            <a:pPr algn="l"/>
            <a:r>
              <a:rPr sz="1200" b="0">
                <a:solidFill>
                  <a:srgbClr val="9FB3D9"/>
                </a:solidFill>
                <a:latin typeface="Calibri"/>
              </a:rPr>
              <a:t>2026-09-15 → 2026-09-23 · Memphis cluster, 8× MI355X · Frontier profilers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2A78D6"/>
                </a:solidFill>
                <a:latin typeface="Calibri"/>
              </a:rPr>
              <a:t>WHERE WE STARTED</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The inherited dataset, and our first re-collection</a:t>
            </a:r>
          </a:p>
        </p:txBody>
      </p:sp>
      <p:sp>
        <p:nvSpPr>
          <p:cNvPr id="4" name="TextBox 3"/>
          <p:cNvSpPr txBox="1"/>
          <p:nvPr/>
        </p:nvSpPr>
        <p:spPr>
          <a:xfrm>
            <a:off x="457200" y="1234440"/>
            <a:ext cx="4206240" cy="4572000"/>
          </a:xfrm>
          <a:prstGeom prst="rect">
            <a:avLst/>
          </a:prstGeom>
          <a:noFill/>
        </p:spPr>
        <p:txBody>
          <a:bodyPr wrap="square" lIns="0" rIns="0" tIns="0" bIns="0">
            <a:spAutoFit/>
          </a:bodyPr>
          <a:lstStyle/>
          <a:p>
            <a:pPr marL="201168" indent="-201168">
              <a:spcAft>
                <a:spcPts val="600"/>
              </a:spcAft>
              <a:buChar char="•"/>
            </a:pPr>
            <a:r>
              <a:rPr sz="1400">
                <a:solidFill>
                  <a:srgbClr val="0B0B0B"/>
                </a:solidFill>
                <a:latin typeface="Calibri"/>
              </a:rPr>
              <a:t>Inherited MI355X profiles (Nuzam's data): linear ops up to 4,096 tokens, 20 timed runs per shape, only min/max/mean/median/std kept.</a:t>
            </a:r>
          </a:p>
          <a:p>
            <a:pPr marL="201168" indent="-201168">
              <a:spcAft>
                <a:spcPts val="600"/>
              </a:spcAft>
              <a:buChar char="•"/>
            </a:pPr>
            <a:r>
              <a:rPr sz="1400">
                <a:solidFill>
                  <a:srgbClr val="0B0B0B"/>
                </a:solidFill>
                <a:latin typeface="Calibri"/>
              </a:rPr>
              <a:t>Attention on the portable TORCH_SDPA kernel, no head_dim column; the simulator's regressors train on the per-op median.</a:t>
            </a:r>
          </a:p>
          <a:p>
            <a:pPr marL="201168" indent="-201168">
              <a:spcAft>
                <a:spcPts val="600"/>
              </a:spcAft>
              <a:buChar char="•"/>
            </a:pPr>
            <a:r>
              <a:rPr sz="1400">
                <a:solidFill>
                  <a:srgbClr val="0B0B0B"/>
                </a:solidFill>
                <a:latin typeface="Calibri"/>
              </a:rPr>
              <a:t>Decision: re-collect on the production AITER kernels, 50 timed runs per shape, and keep every run in execution order.</a:t>
            </a:r>
          </a:p>
          <a:p>
            <a:pPr marL="201168" indent="-201168">
              <a:spcAft>
                <a:spcPts val="600"/>
              </a:spcAft>
              <a:buChar char="•"/>
            </a:pPr>
            <a:r>
              <a:rPr sz="1400">
                <a:solidFill>
                  <a:srgbClr val="0B0B0B"/>
                </a:solidFill>
                <a:latin typeface="Calibri"/>
              </a:rPr>
              <a:t>On the shared shapes the medians agree. Everything that follows comes from the raw per-run samples the old data did not have.</a:t>
            </a:r>
          </a:p>
        </p:txBody>
      </p:sp>
      <p:pic>
        <p:nvPicPr>
          <p:cNvPr id="5" name="Picture 4" descr="f00_baseline_inherited_vs_50rep.png"/>
          <p:cNvPicPr>
            <a:picLocks noChangeAspect="1"/>
          </p:cNvPicPr>
          <p:nvPr/>
        </p:nvPicPr>
        <p:blipFill>
          <a:blip r:embed="rId2"/>
          <a:stretch>
            <a:fillRect/>
          </a:stretch>
        </p:blipFill>
        <p:spPr>
          <a:xfrm>
            <a:off x="4937760" y="1180914"/>
            <a:ext cx="6766560" cy="4679051"/>
          </a:xfrm>
          <a:prstGeom prst="rect">
            <a:avLst/>
          </a:prstGeom>
        </p:spPr>
      </p:pic>
      <p:sp>
        <p:nvSpPr>
          <p:cNvPr id="6" name="TextBox 5"/>
          <p:cNvSpPr txBox="1"/>
          <p:nvPr/>
        </p:nvSpPr>
        <p:spPr>
          <a:xfrm>
            <a:off x="4937760" y="5989320"/>
            <a:ext cx="6766560" cy="384048"/>
          </a:xfrm>
          <a:prstGeom prst="rect">
            <a:avLst/>
          </a:prstGeom>
          <a:noFill/>
        </p:spPr>
        <p:txBody>
          <a:bodyPr wrap="square" lIns="0" rIns="0" tIns="0" bIns="0" anchor="t">
            <a:spAutoFit/>
          </a:bodyPr>
          <a:lstStyle/>
          <a:p>
            <a:pPr algn="l"/>
            <a:r>
              <a:rPr sz="1000" b="0">
                <a:solidFill>
                  <a:srgbClr val="898781"/>
                </a:solidFill>
                <a:latin typeface="Calibri"/>
              </a:rPr>
              <a:t>Inherited (orange, 20 runs, ≤4,096 tokens) vs our first 50-run collection (blue): attn_pre_proj median per TP. Fig. 1 of the story.</a:t>
            </a:r>
          </a:p>
        </p:txBody>
      </p:sp>
      <p:sp>
        <p:nvSpPr>
          <p:cNvPr id="7" name="TextBox 6"/>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D03B3B"/>
                </a:solidFill>
                <a:latin typeface="Calibri"/>
              </a:rPr>
              <a:t>THE DENSE GRID, 2026-09-15</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Things that did not make sense</a:t>
            </a:r>
          </a:p>
        </p:txBody>
      </p:sp>
      <p:sp>
        <p:nvSpPr>
          <p:cNvPr id="4" name="TextBox 3"/>
          <p:cNvSpPr txBox="1"/>
          <p:nvPr/>
        </p:nvSpPr>
        <p:spPr>
          <a:xfrm>
            <a:off x="457200" y="1234440"/>
            <a:ext cx="4572000" cy="4754880"/>
          </a:xfrm>
          <a:prstGeom prst="rect">
            <a:avLst/>
          </a:prstGeom>
          <a:noFill/>
        </p:spPr>
        <p:txBody>
          <a:bodyPr wrap="square" lIns="0" rIns="0" tIns="0" bIns="0">
            <a:spAutoFit/>
          </a:bodyPr>
          <a:lstStyle/>
          <a:p>
            <a:pPr marL="201168" indent="-201168">
              <a:spcAft>
                <a:spcPts val="600"/>
              </a:spcAft>
              <a:buChar char="•"/>
            </a:pPr>
            <a:r>
              <a:rPr sz="1400">
                <a:solidFill>
                  <a:srgbClr val="0B0B0B"/>
                </a:solidFill>
                <a:latin typeface="Calibri"/>
              </a:rPr>
              <a:t>A single timed run of attn_pre_proj at 150–290 ms, about 1,000× the median, in exactly 32 rows (tokens 1968–1975 × every TP), always timed run 11.</a:t>
            </a:r>
          </a:p>
          <a:p>
            <a:pPr marL="201168" indent="-201168">
              <a:spcAft>
                <a:spcPts val="600"/>
              </a:spcAft>
              <a:buChar char="•"/>
            </a:pPr>
            <a:r>
              <a:rPr sz="1400">
                <a:solidFill>
                  <a:srgbClr val="0B0B0B"/>
                </a:solidFill>
                <a:latin typeface="Calibri"/>
              </a:rPr>
              <a:t>attn_post_proj and attn_rope medians fall 17–37 % between 4,000 and 6,000 tokens at TP 2/4/8 and then climb back: a V in a GEMM cost curve.</a:t>
            </a:r>
          </a:p>
          <a:p>
            <a:pPr marL="201168" indent="-201168">
              <a:spcAft>
                <a:spcPts val="600"/>
              </a:spcAft>
              <a:buChar char="•"/>
            </a:pPr>
            <a:r>
              <a:rPr sz="1400">
                <a:solidFill>
                  <a:srgbClr val="0B0B0B"/>
                </a:solidFill>
                <a:latin typeface="Calibri"/>
              </a:rPr>
              <a:t>Below the V the curves are flat for thousands of tokens although the GEMM's M grows 100×.</a:t>
            </a:r>
          </a:p>
          <a:p>
            <a:pPr marL="201168" indent="-201168">
              <a:spcAft>
                <a:spcPts val="600"/>
              </a:spcAft>
              <a:buChar char="•"/>
            </a:pPr>
            <a:r>
              <a:rPr sz="1400">
                <a:solidFill>
                  <a:srgbClr val="0B0B0B"/>
                </a:solidFill>
                <a:latin typeface="Calibri"/>
              </a:rPr>
              <a:t>Fixed run positions (11, 33, 49) sit above the row median in every row.</a:t>
            </a:r>
          </a:p>
          <a:p>
            <a:pPr marL="201168" indent="-201168">
              <a:spcAft>
                <a:spcPts val="600"/>
              </a:spcAft>
              <a:buChar char="•"/>
            </a:pPr>
            <a:r>
              <a:rPr sz="1400">
                <a:solidFill>
                  <a:srgbClr val="0B0B0B"/>
                </a:solidFill>
                <a:latin typeface="Calibri"/>
              </a:rPr>
              <a:t>None of it is noise: an independent re-run on another node 17 h later reproduced all of it.</a:t>
            </a:r>
          </a:p>
        </p:txBody>
      </p:sp>
      <p:pic>
        <p:nvPicPr>
          <p:cNvPr id="5" name="Picture 4" descr="f01_spike_envelope_dense_original.png"/>
          <p:cNvPicPr>
            <a:picLocks noChangeAspect="1"/>
          </p:cNvPicPr>
          <p:nvPr/>
        </p:nvPicPr>
        <p:blipFill>
          <a:blip r:embed="rId2"/>
          <a:stretch>
            <a:fillRect/>
          </a:stretch>
        </p:blipFill>
        <p:spPr>
          <a:xfrm>
            <a:off x="5303520" y="1307552"/>
            <a:ext cx="3200400" cy="2048334"/>
          </a:xfrm>
          <a:prstGeom prst="rect">
            <a:avLst/>
          </a:prstGeom>
        </p:spPr>
      </p:pic>
      <p:pic>
        <p:nvPicPr>
          <p:cNvPr id="6" name="Picture 5" descr="f09_dip_medians_original.png"/>
          <p:cNvPicPr>
            <a:picLocks noChangeAspect="1"/>
          </p:cNvPicPr>
          <p:nvPr/>
        </p:nvPicPr>
        <p:blipFill>
          <a:blip r:embed="rId3"/>
          <a:stretch>
            <a:fillRect/>
          </a:stretch>
        </p:blipFill>
        <p:spPr>
          <a:xfrm>
            <a:off x="8595360" y="1776804"/>
            <a:ext cx="3154680" cy="1109831"/>
          </a:xfrm>
          <a:prstGeom prst="rect">
            <a:avLst/>
          </a:prstGeom>
        </p:spPr>
      </p:pic>
      <p:pic>
        <p:nvPicPr>
          <p:cNvPr id="7" name="Picture 6" descr="f04_run_position_fingerprint_original.png"/>
          <p:cNvPicPr>
            <a:picLocks noChangeAspect="1"/>
          </p:cNvPicPr>
          <p:nvPr/>
        </p:nvPicPr>
        <p:blipFill>
          <a:blip r:embed="rId4"/>
          <a:stretch>
            <a:fillRect/>
          </a:stretch>
        </p:blipFill>
        <p:spPr>
          <a:xfrm>
            <a:off x="5755870" y="3657600"/>
            <a:ext cx="5541818" cy="2286000"/>
          </a:xfrm>
          <a:prstGeom prst="rect">
            <a:avLst/>
          </a:prstGeom>
        </p:spPr>
      </p:pic>
      <p:sp>
        <p:nvSpPr>
          <p:cNvPr id="8" name="TextBox 7"/>
          <p:cNvSpPr txBox="1"/>
          <p:nvPr/>
        </p:nvSpPr>
        <p:spPr>
          <a:xfrm>
            <a:off x="5303520" y="6035040"/>
            <a:ext cx="6446520" cy="384048"/>
          </a:xfrm>
          <a:prstGeom prst="rect">
            <a:avLst/>
          </a:prstGeom>
          <a:noFill/>
        </p:spPr>
        <p:txBody>
          <a:bodyPr wrap="square" lIns="0" rIns="0" tIns="0" bIns="0" anchor="t">
            <a:spAutoFit/>
          </a:bodyPr>
          <a:lstStyle/>
          <a:p>
            <a:pPr algn="l"/>
            <a:r>
              <a:rPr sz="1000" b="0">
                <a:solidFill>
                  <a:srgbClr val="898781"/>
                </a:solidFill>
                <a:latin typeface="Calibri"/>
              </a:rPr>
              <a:t>Left: the needle (Fig. 2). Right: the V-shaped dip (Fig. 10). Bottom: the run-position fingerprint (Fig. 4).</a:t>
            </a:r>
          </a:p>
        </p:txBody>
      </p:sp>
      <p:sp>
        <p:nvSpPr>
          <p:cNvPr id="9" name="TextBox 8"/>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457200" y="2194560"/>
            <a:ext cx="11277295" cy="822960"/>
          </a:xfrm>
          <a:prstGeom prst="rect">
            <a:avLst/>
          </a:prstGeom>
          <a:noFill/>
        </p:spPr>
        <p:txBody>
          <a:bodyPr wrap="square" lIns="0" rIns="0" tIns="0" bIns="0" anchor="t">
            <a:spAutoFit/>
          </a:bodyPr>
          <a:lstStyle/>
          <a:p>
            <a:pPr algn="l"/>
            <a:r>
              <a:rPr sz="4000" b="1">
                <a:solidFill>
                  <a:srgbClr val="FFFFFF"/>
                </a:solidFill>
                <a:latin typeface="Calibri"/>
              </a:rPr>
              <a:t>Iteration 1</a:t>
            </a:r>
          </a:p>
        </p:txBody>
      </p:sp>
      <p:sp>
        <p:nvSpPr>
          <p:cNvPr id="3" name="TextBox 2"/>
          <p:cNvSpPr txBox="1"/>
          <p:nvPr/>
        </p:nvSpPr>
        <p:spPr>
          <a:xfrm>
            <a:off x="457200" y="3063240"/>
            <a:ext cx="11277295" cy="548640"/>
          </a:xfrm>
          <a:prstGeom prst="rect">
            <a:avLst/>
          </a:prstGeom>
          <a:noFill/>
        </p:spPr>
        <p:txBody>
          <a:bodyPr wrap="square" lIns="0" rIns="0" tIns="0" bIns="0" anchor="t">
            <a:spAutoFit/>
          </a:bodyPr>
          <a:lstStyle/>
          <a:p>
            <a:pPr algn="l"/>
            <a:r>
              <a:rPr sz="2200" b="0">
                <a:solidFill>
                  <a:srgbClr val="CADCFC"/>
                </a:solidFill>
                <a:latin typeface="Calibri"/>
              </a:rPr>
              <a:t>The 150–290 ms spike at timed run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2A78D6"/>
                </a:solidFill>
                <a:latin typeface="Calibri"/>
              </a:rPr>
              <a:t>ITERATION 1 · THE DATA WE STARTED WITH</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One run in fifty, one op, eight token counts, every TP</a:t>
            </a:r>
          </a:p>
        </p:txBody>
      </p:sp>
      <p:pic>
        <p:nvPicPr>
          <p:cNvPr id="4" name="Picture 3" descr="f01_spike_envelope_dense_original.png"/>
          <p:cNvPicPr>
            <a:picLocks noChangeAspect="1"/>
          </p:cNvPicPr>
          <p:nvPr/>
        </p:nvPicPr>
        <p:blipFill>
          <a:blip r:embed="rId2"/>
          <a:stretch>
            <a:fillRect/>
          </a:stretch>
        </p:blipFill>
        <p:spPr>
          <a:xfrm>
            <a:off x="457200" y="1764725"/>
            <a:ext cx="5486400" cy="3511429"/>
          </a:xfrm>
          <a:prstGeom prst="rect">
            <a:avLst/>
          </a:prstGeom>
        </p:spPr>
      </p:pic>
      <p:pic>
        <p:nvPicPr>
          <p:cNvPr id="5" name="Picture 4" descr="f02_spike_one_row_samples.png"/>
          <p:cNvPicPr>
            <a:picLocks noChangeAspect="1"/>
          </p:cNvPicPr>
          <p:nvPr/>
        </p:nvPicPr>
        <p:blipFill>
          <a:blip r:embed="rId3"/>
          <a:stretch>
            <a:fillRect/>
          </a:stretch>
        </p:blipFill>
        <p:spPr>
          <a:xfrm>
            <a:off x="6217920" y="1170275"/>
            <a:ext cx="5486400" cy="2231449"/>
          </a:xfrm>
          <a:prstGeom prst="rect">
            <a:avLst/>
          </a:prstGeom>
        </p:spPr>
      </p:pic>
      <p:sp>
        <p:nvSpPr>
          <p:cNvPr id="6" name="TextBox 5"/>
          <p:cNvSpPr txBox="1"/>
          <p:nvPr/>
        </p:nvSpPr>
        <p:spPr>
          <a:xfrm>
            <a:off x="6217920" y="3611880"/>
            <a:ext cx="5486400" cy="2286000"/>
          </a:xfrm>
          <a:prstGeom prst="rect">
            <a:avLst/>
          </a:prstGeom>
          <a:noFill/>
        </p:spPr>
        <p:txBody>
          <a:bodyPr wrap="square" lIns="0" rIns="0" tIns="0" bIns="0">
            <a:spAutoFit/>
          </a:bodyPr>
          <a:lstStyle/>
          <a:p>
            <a:pPr marL="201168" indent="-201168">
              <a:spcAft>
                <a:spcPts val="600"/>
              </a:spcAft>
              <a:buChar char="•"/>
            </a:pPr>
            <a:r>
              <a:rPr sz="1300">
                <a:solidFill>
                  <a:srgbClr val="0B0B0B"/>
                </a:solidFill>
                <a:latin typeface="Calibri"/>
              </a:rPr>
              <a:t>Medians untouched; mean and max destroyed in 32 rows.</a:t>
            </a:r>
          </a:p>
          <a:p>
            <a:pPr marL="201168" indent="-201168">
              <a:spcAft>
                <a:spcPts val="600"/>
              </a:spcAft>
              <a:buChar char="•"/>
            </a:pPr>
            <a:r>
              <a:rPr sz="1300">
                <a:solidFill>
                  <a:srgbClr val="0B0B0B"/>
                </a:solidFill>
                <a:latin typeface="Calibri"/>
              </a:rPr>
              <a:t>Always the same sample position: run 11, the 15th forward including warm-up.</a:t>
            </a:r>
          </a:p>
          <a:p>
            <a:pPr marL="201168" indent="-201168">
              <a:spcAft>
                <a:spcPts val="600"/>
              </a:spcAft>
              <a:buChar char="•"/>
            </a:pPr>
            <a:r>
              <a:rPr sz="1300">
                <a:solidFill>
                  <a:srgbClr val="0B0B0B"/>
                </a:solidFill>
                <a:latin typeface="Calibri"/>
              </a:rPr>
              <a:t>A 26-token repro did not reproduce it; the full grid on another node did, exactly.</a:t>
            </a:r>
          </a:p>
          <a:p>
            <a:pPr marL="201168" indent="-201168">
              <a:spcAft>
                <a:spcPts val="600"/>
              </a:spcAft>
              <a:buChar char="•"/>
            </a:pPr>
            <a:r>
              <a:rPr sz="1300">
                <a:solidFill>
                  <a:srgbClr val="0B0B0B"/>
                </a:solidFill>
                <a:latin typeface="Calibri"/>
              </a:rPr>
              <a:t>So it is keyed to a worker's history, not to the shape or the node.</a:t>
            </a:r>
          </a:p>
        </p:txBody>
      </p:sp>
      <p:sp>
        <p:nvSpPr>
          <p:cNvPr id="7" name="TextBox 6"/>
          <p:cNvSpPr txBox="1"/>
          <p:nvPr/>
        </p:nvSpPr>
        <p:spPr>
          <a:xfrm>
            <a:off x="457200" y="5989320"/>
            <a:ext cx="11247120" cy="384048"/>
          </a:xfrm>
          <a:prstGeom prst="rect">
            <a:avLst/>
          </a:prstGeom>
          <a:noFill/>
        </p:spPr>
        <p:txBody>
          <a:bodyPr wrap="square" lIns="0" rIns="0" tIns="0" bIns="0" anchor="t">
            <a:spAutoFit/>
          </a:bodyPr>
          <a:lstStyle/>
          <a:p>
            <a:pPr algn="l"/>
            <a:r>
              <a:rPr sz="1000" b="0">
                <a:solidFill>
                  <a:srgbClr val="898781"/>
                </a:solidFill>
                <a:latin typeface="Calibri"/>
              </a:rPr>
              <a:t>Left: min–max envelope with the spike rows in red (Fig. 2). Right: the 53 samples of one row, run 11 at ≈150 ms (Fig. 3).</a:t>
            </a:r>
          </a:p>
        </p:txBody>
      </p:sp>
      <p:sp>
        <p:nvSpPr>
          <p:cNvPr id="8" name="TextBox 7"/>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D03B3B"/>
                </a:solidFill>
                <a:latin typeface="Calibri"/>
              </a:rPr>
              <a:t>ITERATION 1 · WHAT WAS THE PROBLEM</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A CPython full garbage collection inside the timed loop</a:t>
            </a:r>
          </a:p>
        </p:txBody>
      </p:sp>
      <p:sp>
        <p:nvSpPr>
          <p:cNvPr id="4" name="TextBox 3"/>
          <p:cNvSpPr txBox="1"/>
          <p:nvPr/>
        </p:nvSpPr>
        <p:spPr>
          <a:xfrm>
            <a:off x="457200" y="1234440"/>
            <a:ext cx="4754880" cy="4754880"/>
          </a:xfrm>
          <a:prstGeom prst="rect">
            <a:avLst/>
          </a:prstGeom>
          <a:noFill/>
        </p:spPr>
        <p:txBody>
          <a:bodyPr wrap="square" lIns="0" rIns="0" tIns="0" bIns="0">
            <a:spAutoFit/>
          </a:bodyPr>
          <a:lstStyle/>
          <a:p>
            <a:pPr marL="201168" indent="-201168">
              <a:spcAft>
                <a:spcPts val="600"/>
              </a:spcAft>
              <a:buChar char="•"/>
            </a:pPr>
            <a:r>
              <a:rPr sz="1400">
                <a:solidFill>
                  <a:srgbClr val="0B0B0B"/>
                </a:solidFill>
                <a:latin typeface="Calibri"/>
              </a:rPr>
              <a:t>Instrumented every GC collection and the host window of every forward (12 jobs).</a:t>
            </a:r>
          </a:p>
          <a:p>
            <a:pPr marL="201168" indent="-201168">
              <a:spcAft>
                <a:spcPts val="600"/>
              </a:spcAft>
              <a:buChar char="•"/>
            </a:pPr>
            <a:r>
              <a:rPr sz="1400">
                <a:solidFill>
                  <a:srgbClr val="0B0B0B"/>
                </a:solidFill>
                <a:latin typeface="Calibri"/>
              </a:rPr>
              <a:t>Every spiking forward contains one generation-2 collection whose duration equals the event gap to within 1 ms.</a:t>
            </a:r>
          </a:p>
          <a:p>
            <a:pPr marL="201168" indent="-201168">
              <a:spcAft>
                <a:spcPts val="600"/>
              </a:spcAft>
              <a:buChar char="•"/>
            </a:pPr>
            <a:r>
              <a:rPr sz="1400">
                <a:solidFill>
                  <a:srgbClr val="0B0B0B"/>
                </a:solidFill>
                <a:latin typeface="Calibri"/>
              </a:rPr>
              <a:t>Why run 11: the gen-0 counter restarts each task, grows ≈255 + 32 per forward and crosses 700 at forward 14; the full collection fires once per pass at a fixed task index.</a:t>
            </a:r>
          </a:p>
          <a:p>
            <a:pPr marL="201168" indent="-201168">
              <a:spcAft>
                <a:spcPts val="600"/>
              </a:spcAft>
              <a:buChar char="•"/>
            </a:pPr>
            <a:r>
              <a:rPr sz="1400">
                <a:solidFill>
                  <a:srgbClr val="0B0B0B"/>
                </a:solidFill>
                <a:latin typeface="Calibri"/>
              </a:rPr>
              <a:t>Ruled out: caching allocator, hipBLASLt lazy loading, 8-process contention, shape, node.</a:t>
            </a:r>
          </a:p>
          <a:p>
            <a:pPr marL="201168" indent="-201168">
              <a:spcAft>
                <a:spcPts val="600"/>
              </a:spcAft>
              <a:buChar char="•"/>
            </a:pPr>
            <a:r>
              <a:rPr sz="1400">
                <a:solidFill>
                  <a:srgbClr val="0B0B0B"/>
                </a:solidFill>
                <a:latin typeface="Calibri"/>
              </a:rPr>
              <a:t>The event pair measured a host stall while the GPU idled.</a:t>
            </a:r>
          </a:p>
        </p:txBody>
      </p:sp>
      <p:pic>
        <p:nvPicPr>
          <p:cNvPr id="5" name="Picture 4" descr="f05_gc_gen2_duration_vs_spike.png"/>
          <p:cNvPicPr>
            <a:picLocks noChangeAspect="1"/>
          </p:cNvPicPr>
          <p:nvPr/>
        </p:nvPicPr>
        <p:blipFill>
          <a:blip r:embed="rId2"/>
          <a:stretch>
            <a:fillRect/>
          </a:stretch>
        </p:blipFill>
        <p:spPr>
          <a:xfrm>
            <a:off x="5777501" y="1143000"/>
            <a:ext cx="5727156" cy="2377440"/>
          </a:xfrm>
          <a:prstGeom prst="rect">
            <a:avLst/>
          </a:prstGeom>
        </p:spPr>
      </p:pic>
      <p:pic>
        <p:nvPicPr>
          <p:cNvPr id="6" name="Picture 5" descr="f06_gc_counter_model.png"/>
          <p:cNvPicPr>
            <a:picLocks noChangeAspect="1"/>
          </p:cNvPicPr>
          <p:nvPr/>
        </p:nvPicPr>
        <p:blipFill>
          <a:blip r:embed="rId3"/>
          <a:stretch>
            <a:fillRect/>
          </a:stretch>
        </p:blipFill>
        <p:spPr>
          <a:xfrm>
            <a:off x="5718057" y="3611880"/>
            <a:ext cx="5846044" cy="2286000"/>
          </a:xfrm>
          <a:prstGeom prst="rect">
            <a:avLst/>
          </a:prstGeom>
        </p:spPr>
      </p:pic>
      <p:sp>
        <p:nvSpPr>
          <p:cNvPr id="7" name="TextBox 6"/>
          <p:cNvSpPr txBox="1"/>
          <p:nvPr/>
        </p:nvSpPr>
        <p:spPr>
          <a:xfrm>
            <a:off x="5486400" y="5989320"/>
            <a:ext cx="6309360" cy="384048"/>
          </a:xfrm>
          <a:prstGeom prst="rect">
            <a:avLst/>
          </a:prstGeom>
          <a:noFill/>
        </p:spPr>
        <p:txBody>
          <a:bodyPr wrap="square" lIns="0" rIns="0" tIns="0" bIns="0" anchor="t">
            <a:spAutoFit/>
          </a:bodyPr>
          <a:lstStyle/>
          <a:p>
            <a:pPr algn="l"/>
            <a:r>
              <a:rPr sz="1000" b="0">
                <a:solidFill>
                  <a:srgbClr val="898781"/>
                </a:solidFill>
                <a:latin typeface="Calibri"/>
              </a:rPr>
              <a:t>Top: GC duration vs the spiking sample, all 32 on the identity line (Fig. 6). Bottom: the counter arithmetic (Fig. 7).</a:t>
            </a:r>
          </a:p>
        </p:txBody>
      </p:sp>
      <p:sp>
        <p:nvSpPr>
          <p:cNvPr id="8" name="TextBox 7"/>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1BAF7A"/>
                </a:solidFill>
                <a:latin typeface="Calibri"/>
              </a:rPr>
              <a:t>ITERATION 1 · WHAT WE CHANGED, AND HOW THE DATA LOOKS NOW</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gc.disable() around the timed loop</a:t>
            </a:r>
          </a:p>
        </p:txBody>
      </p:sp>
      <p:sp>
        <p:nvSpPr>
          <p:cNvPr id="4" name="TextBox 3"/>
          <p:cNvSpPr txBox="1"/>
          <p:nvPr/>
        </p:nvSpPr>
        <p:spPr>
          <a:xfrm>
            <a:off x="457200" y="1234440"/>
            <a:ext cx="4754880" cy="4754880"/>
          </a:xfrm>
          <a:prstGeom prst="rect">
            <a:avLst/>
          </a:prstGeom>
          <a:noFill/>
        </p:spPr>
        <p:txBody>
          <a:bodyPr wrap="square" lIns="0" rIns="0" tIns="0" bIns="0">
            <a:spAutoFit/>
          </a:bodyPr>
          <a:lstStyle/>
          <a:p>
            <a:pPr marL="201168" indent="-201168">
              <a:spcAft>
                <a:spcPts val="600"/>
              </a:spcAft>
              <a:buChar char="•"/>
            </a:pPr>
            <a:r>
              <a:rPr sz="1400">
                <a:solidFill>
                  <a:srgbClr val="0B0B0B"/>
                </a:solidFill>
                <a:latin typeface="Calibri"/>
              </a:rPr>
              <a:t>Change: disable CPython's cyclic GC before the warm-up loop, re-enable after the final synchronize (commit 74eee7c).</a:t>
            </a:r>
          </a:p>
          <a:p>
            <a:pPr marL="201168" indent="-201168">
              <a:spcAft>
                <a:spcPts val="600"/>
              </a:spcAft>
              <a:buChar char="•"/>
            </a:pPr>
            <a:r>
              <a:rPr sz="1400">
                <a:solidFill>
                  <a:srgbClr val="0B0B0B"/>
                </a:solidFill>
                <a:latin typeface="Calibri"/>
              </a:rPr>
              <a:t>Verified on the full 13,308-row grid against five pre-stated criteria: no sample above 5 ms, only the sporadic ≤2 ms class left, medians unchanged, fingerprint gone.</a:t>
            </a:r>
          </a:p>
          <a:p>
            <a:pPr marL="201168" indent="-201168">
              <a:spcAft>
                <a:spcPts val="600"/>
              </a:spcAft>
              <a:buChar char="•"/>
            </a:pPr>
            <a:r>
              <a:rPr sz="1400">
                <a:solidFill>
                  <a:srgbClr val="0B0B0B"/>
                </a:solidFill>
                <a:latin typeface="Calibri"/>
              </a:rPr>
              <a:t>Later confirmed with 200 samples per row: the worst single sample in the file is 0.74 ms.</a:t>
            </a:r>
          </a:p>
        </p:txBody>
      </p:sp>
      <p:pic>
        <p:nvPicPr>
          <p:cNvPr id="5" name="Picture 4" descr="f07_gcfix_max_over_median_before_after.png"/>
          <p:cNvPicPr>
            <a:picLocks noChangeAspect="1"/>
          </p:cNvPicPr>
          <p:nvPr/>
        </p:nvPicPr>
        <p:blipFill>
          <a:blip r:embed="rId2"/>
          <a:stretch>
            <a:fillRect/>
          </a:stretch>
        </p:blipFill>
        <p:spPr>
          <a:xfrm>
            <a:off x="5777501" y="1143000"/>
            <a:ext cx="5727156" cy="2377440"/>
          </a:xfrm>
          <a:prstGeom prst="rect">
            <a:avLst/>
          </a:prstGeom>
        </p:spPr>
      </p:pic>
      <p:pic>
        <p:nvPicPr>
          <p:cNvPr id="6" name="Picture 5" descr="f08_fingerprint_before_after_gcfix.png"/>
          <p:cNvPicPr>
            <a:picLocks noChangeAspect="1"/>
          </p:cNvPicPr>
          <p:nvPr/>
        </p:nvPicPr>
        <p:blipFill>
          <a:blip r:embed="rId3"/>
          <a:stretch>
            <a:fillRect/>
          </a:stretch>
        </p:blipFill>
        <p:spPr>
          <a:xfrm>
            <a:off x="5782653" y="3611880"/>
            <a:ext cx="5716852" cy="2286000"/>
          </a:xfrm>
          <a:prstGeom prst="rect">
            <a:avLst/>
          </a:prstGeom>
        </p:spPr>
      </p:pic>
      <p:sp>
        <p:nvSpPr>
          <p:cNvPr id="7" name="TextBox 6"/>
          <p:cNvSpPr txBox="1"/>
          <p:nvPr/>
        </p:nvSpPr>
        <p:spPr>
          <a:xfrm>
            <a:off x="5486400" y="5989320"/>
            <a:ext cx="6309360" cy="384048"/>
          </a:xfrm>
          <a:prstGeom prst="rect">
            <a:avLst/>
          </a:prstGeom>
          <a:noFill/>
        </p:spPr>
        <p:txBody>
          <a:bodyPr wrap="square" lIns="0" rIns="0" tIns="0" bIns="0" anchor="t">
            <a:spAutoFit/>
          </a:bodyPr>
          <a:lstStyle/>
          <a:p>
            <a:pPr algn="l"/>
            <a:r>
              <a:rPr sz="1000" b="0">
                <a:solidFill>
                  <a:srgbClr val="898781"/>
                </a:solidFill>
                <a:latin typeface="Calibri"/>
              </a:rPr>
              <a:t>Top: per-row max ÷ median before and after (Fig. 8). Bottom: the run-11 fingerprint, 1.31 → 1.00 (Fig. 9).</a:t>
            </a:r>
          </a:p>
        </p:txBody>
      </p:sp>
      <p:sp>
        <p:nvSpPr>
          <p:cNvPr id="8" name="TextBox 7"/>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EB6834"/>
                </a:solidFill>
                <a:latin typeface="Calibri"/>
              </a:rPr>
              <a:t>ITERATION 1 · STILL OPEN</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The spike is gone. The dip is not.</a:t>
            </a:r>
          </a:p>
        </p:txBody>
      </p:sp>
      <p:sp>
        <p:nvSpPr>
          <p:cNvPr id="4" name="TextBox 3"/>
          <p:cNvSpPr txBox="1"/>
          <p:nvPr/>
        </p:nvSpPr>
        <p:spPr>
          <a:xfrm>
            <a:off x="457200" y="1234440"/>
            <a:ext cx="4754880" cy="4572000"/>
          </a:xfrm>
          <a:prstGeom prst="rect">
            <a:avLst/>
          </a:prstGeom>
          <a:noFill/>
        </p:spPr>
        <p:txBody>
          <a:bodyPr wrap="square" lIns="0" rIns="0" tIns="0" bIns="0">
            <a:spAutoFit/>
          </a:bodyPr>
          <a:lstStyle/>
          <a:p>
            <a:pPr marL="201168" indent="-201168">
              <a:spcAft>
                <a:spcPts val="600"/>
              </a:spcAft>
              <a:buChar char="•"/>
            </a:pPr>
            <a:r>
              <a:rPr sz="1400">
                <a:solidFill>
                  <a:srgbClr val="0B0B0B"/>
                </a:solidFill>
                <a:latin typeface="Calibri"/>
              </a:rPr>
              <a:t>The V in attn_post_proj and attn_rope at TP 2/4/8 is a shift of the row median itself, not a single freak sample; the GC fix cannot touch it.</a:t>
            </a:r>
          </a:p>
          <a:p>
            <a:pPr marL="201168" indent="-201168">
              <a:spcAft>
                <a:spcPts val="600"/>
              </a:spcAft>
              <a:buChar char="•"/>
            </a:pPr>
            <a:r>
              <a:rPr sz="1400">
                <a:solidFill>
                  <a:srgbClr val="0B0B0B"/>
                </a:solidFill>
                <a:latin typeface="Calibri"/>
              </a:rPr>
              <a:t>The plateaus below the dip remain: a GEMM whose M grows 100× should not cost the same.</a:t>
            </a:r>
          </a:p>
          <a:p>
            <a:pPr marL="201168" indent="-201168">
              <a:spcAft>
                <a:spcPts val="600"/>
              </a:spcAft>
              <a:buChar char="•"/>
            </a:pPr>
            <a:r>
              <a:rPr sz="1400">
                <a:solidFill>
                  <a:srgbClr val="0B0B0B"/>
                </a:solidFill>
                <a:latin typeface="Calibri"/>
              </a:rPr>
              <a:t>The bumps at runs 0, 16 and 49 survived the fix: they were never GC.</a:t>
            </a:r>
          </a:p>
        </p:txBody>
      </p:sp>
      <p:pic>
        <p:nvPicPr>
          <p:cNvPr id="5" name="Picture 4" descr="f09_dip_medians_original.png"/>
          <p:cNvPicPr>
            <a:picLocks noChangeAspect="1"/>
          </p:cNvPicPr>
          <p:nvPr/>
        </p:nvPicPr>
        <p:blipFill>
          <a:blip r:embed="rId2"/>
          <a:stretch>
            <a:fillRect/>
          </a:stretch>
        </p:blipFill>
        <p:spPr>
          <a:xfrm>
            <a:off x="5486400" y="2364888"/>
            <a:ext cx="6309360" cy="2219662"/>
          </a:xfrm>
          <a:prstGeom prst="rect">
            <a:avLst/>
          </a:prstGeom>
        </p:spPr>
      </p:pic>
      <p:sp>
        <p:nvSpPr>
          <p:cNvPr id="6" name="TextBox 5"/>
          <p:cNvSpPr txBox="1"/>
          <p:nvPr/>
        </p:nvSpPr>
        <p:spPr>
          <a:xfrm>
            <a:off x="5486400" y="5852160"/>
            <a:ext cx="6309360" cy="384048"/>
          </a:xfrm>
          <a:prstGeom prst="rect">
            <a:avLst/>
          </a:prstGeom>
          <a:noFill/>
        </p:spPr>
        <p:txBody>
          <a:bodyPr wrap="square" lIns="0" rIns="0" tIns="0" bIns="0" anchor="t">
            <a:spAutoFit/>
          </a:bodyPr>
          <a:lstStyle/>
          <a:p>
            <a:pPr algn="l"/>
            <a:r>
              <a:rPr sz="1000" b="0">
                <a:solidFill>
                  <a:srgbClr val="898781"/>
                </a:solidFill>
                <a:latin typeface="Calibri"/>
              </a:rPr>
              <a:t>Medians vs tokens, three ops × four TPs, dip band shaded (Fig. 10).</a:t>
            </a:r>
          </a:p>
        </p:txBody>
      </p:sp>
      <p:sp>
        <p:nvSpPr>
          <p:cNvPr id="7" name="TextBox 6"/>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457200" y="2194560"/>
            <a:ext cx="11277295" cy="822960"/>
          </a:xfrm>
          <a:prstGeom prst="rect">
            <a:avLst/>
          </a:prstGeom>
          <a:noFill/>
        </p:spPr>
        <p:txBody>
          <a:bodyPr wrap="square" lIns="0" rIns="0" tIns="0" bIns="0" anchor="t">
            <a:spAutoFit/>
          </a:bodyPr>
          <a:lstStyle/>
          <a:p>
            <a:pPr algn="l"/>
            <a:r>
              <a:rPr sz="4000" b="1">
                <a:solidFill>
                  <a:srgbClr val="FFFFFF"/>
                </a:solidFill>
                <a:latin typeface="Calibri"/>
              </a:rPr>
              <a:t>Iteration 2</a:t>
            </a:r>
          </a:p>
        </p:txBody>
      </p:sp>
      <p:sp>
        <p:nvSpPr>
          <p:cNvPr id="3" name="TextBox 2"/>
          <p:cNvSpPr txBox="1"/>
          <p:nvPr/>
        </p:nvSpPr>
        <p:spPr>
          <a:xfrm>
            <a:off x="457200" y="3063240"/>
            <a:ext cx="11277295" cy="548640"/>
          </a:xfrm>
          <a:prstGeom prst="rect">
            <a:avLst/>
          </a:prstGeom>
          <a:noFill/>
        </p:spPr>
        <p:txBody>
          <a:bodyPr wrap="square" lIns="0" rIns="0" tIns="0" bIns="0" anchor="t">
            <a:spAutoFit/>
          </a:bodyPr>
          <a:lstStyle/>
          <a:p>
            <a:pPr algn="l"/>
            <a:r>
              <a:rPr sz="2200" b="0">
                <a:solidFill>
                  <a:srgbClr val="CADCFC"/>
                </a:solidFill>
                <a:latin typeface="Calibri"/>
              </a:rPr>
              <a:t>The V-shaped dip and the flat plateaus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2A78D6"/>
                </a:solidFill>
                <a:latin typeface="Calibri"/>
              </a:rPr>
              <a:t>ITERATION 2 · THE DATA WE STARTED WITH</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A cost that falls when the work grows</a:t>
            </a:r>
          </a:p>
        </p:txBody>
      </p:sp>
      <p:pic>
        <p:nvPicPr>
          <p:cNvPr id="4" name="Picture 3" descr="f09_dip_medians_original.png"/>
          <p:cNvPicPr>
            <a:picLocks noChangeAspect="1"/>
          </p:cNvPicPr>
          <p:nvPr/>
        </p:nvPicPr>
        <p:blipFill>
          <a:blip r:embed="rId2"/>
          <a:stretch>
            <a:fillRect/>
          </a:stretch>
        </p:blipFill>
        <p:spPr>
          <a:xfrm>
            <a:off x="457200" y="1265074"/>
            <a:ext cx="6583680" cy="2316170"/>
          </a:xfrm>
          <a:prstGeom prst="rect">
            <a:avLst/>
          </a:prstGeom>
        </p:spPr>
      </p:pic>
      <p:pic>
        <p:nvPicPr>
          <p:cNvPr id="5" name="Picture 4" descr="f10_dip_row_samples_bimodal.png"/>
          <p:cNvPicPr>
            <a:picLocks noChangeAspect="1"/>
          </p:cNvPicPr>
          <p:nvPr/>
        </p:nvPicPr>
        <p:blipFill>
          <a:blip r:embed="rId3"/>
          <a:stretch>
            <a:fillRect/>
          </a:stretch>
        </p:blipFill>
        <p:spPr>
          <a:xfrm>
            <a:off x="940927" y="3703320"/>
            <a:ext cx="5616224" cy="2194560"/>
          </a:xfrm>
          <a:prstGeom prst="rect">
            <a:avLst/>
          </a:prstGeom>
        </p:spPr>
      </p:pic>
      <p:sp>
        <p:nvSpPr>
          <p:cNvPr id="6" name="TextBox 5"/>
          <p:cNvSpPr txBox="1"/>
          <p:nvPr/>
        </p:nvSpPr>
        <p:spPr>
          <a:xfrm>
            <a:off x="7315200" y="1234440"/>
            <a:ext cx="4434840" cy="4754880"/>
          </a:xfrm>
          <a:prstGeom prst="rect">
            <a:avLst/>
          </a:prstGeom>
          <a:noFill/>
        </p:spPr>
        <p:txBody>
          <a:bodyPr wrap="square" lIns="0" rIns="0" tIns="0" bIns="0">
            <a:spAutoFit/>
          </a:bodyPr>
          <a:lstStyle/>
          <a:p>
            <a:pPr marL="201168" indent="-201168">
              <a:spcAft>
                <a:spcPts val="600"/>
              </a:spcAft>
              <a:buChar char="•"/>
            </a:pPr>
            <a:r>
              <a:rPr sz="1300">
                <a:solidFill>
                  <a:srgbClr val="0B0B0B"/>
                </a:solidFill>
                <a:latin typeface="Calibri"/>
              </a:rPr>
              <a:t>attn_post_proj drops 35–37 % at TP 2 around 4,100 tokens; attn_rope 25–27 % at TP 4 near 5,900. TP 1 never dips.</a:t>
            </a:r>
          </a:p>
          <a:p>
            <a:pPr marL="201168" indent="-201168">
              <a:spcAft>
                <a:spcPts val="600"/>
              </a:spcAft>
              <a:buChar char="•"/>
            </a:pPr>
            <a:r>
              <a:rPr sz="1300">
                <a:solidFill>
                  <a:srgbClr val="0B0B0B"/>
                </a:solidFill>
                <a:latin typeface="Calibri"/>
              </a:rPr>
              <a:t>First hypothesis: hipBLASLt picks a faster tile for the K = 4096/TP GEMMs. Both leading candidates assumed the number in the CSV is GPU time.</a:t>
            </a:r>
          </a:p>
          <a:p>
            <a:pPr marL="201168" indent="-201168">
              <a:spcAft>
                <a:spcPts val="600"/>
              </a:spcAft>
              <a:buChar char="•"/>
            </a:pPr>
            <a:r>
              <a:rPr sz="1300">
                <a:solidFill>
                  <a:srgbClr val="0B0B0B"/>
                </a:solidFill>
                <a:latin typeface="Calibri"/>
              </a:rPr>
              <a:t>The clue: inside the dip a row's 50 samples are bimodal and drift downward within the task; past the dip they are tight.</a:t>
            </a:r>
          </a:p>
        </p:txBody>
      </p:sp>
      <p:sp>
        <p:nvSpPr>
          <p:cNvPr id="7" name="TextBox 6"/>
          <p:cNvSpPr txBox="1"/>
          <p:nvPr/>
        </p:nvSpPr>
        <p:spPr>
          <a:xfrm>
            <a:off x="457200" y="5989320"/>
            <a:ext cx="6583680" cy="384048"/>
          </a:xfrm>
          <a:prstGeom prst="rect">
            <a:avLst/>
          </a:prstGeom>
          <a:noFill/>
        </p:spPr>
        <p:txBody>
          <a:bodyPr wrap="square" lIns="0" rIns="0" tIns="0" bIns="0" anchor="t">
            <a:spAutoFit/>
          </a:bodyPr>
          <a:lstStyle/>
          <a:p>
            <a:pPr algn="l"/>
            <a:r>
              <a:rPr sz="1000" b="0">
                <a:solidFill>
                  <a:srgbClr val="898781"/>
                </a:solidFill>
                <a:latin typeface="Calibri"/>
              </a:rPr>
              <a:t>Top: the dip (Fig. 10). Bottom: samples of a dip row vs a clean row, traced kernel dashed (Fig. 11).</a:t>
            </a:r>
          </a:p>
        </p:txBody>
      </p:sp>
      <p:sp>
        <p:nvSpPr>
          <p:cNvPr id="8" name="TextBox 7"/>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D03B3B"/>
                </a:solidFill>
                <a:latin typeface="Calibri"/>
              </a:rPr>
              <a:t>ITERATION 2 · WHAT WAS THE PROBLEM</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The profiler was measuring the host, not the GPU</a:t>
            </a:r>
          </a:p>
        </p:txBody>
      </p:sp>
      <p:sp>
        <p:nvSpPr>
          <p:cNvPr id="4" name="TextBox 3"/>
          <p:cNvSpPr txBox="1"/>
          <p:nvPr/>
        </p:nvSpPr>
        <p:spPr>
          <a:xfrm>
            <a:off x="457200" y="1234440"/>
            <a:ext cx="4754880" cy="4846320"/>
          </a:xfrm>
          <a:prstGeom prst="rect">
            <a:avLst/>
          </a:prstGeom>
          <a:noFill/>
        </p:spPr>
        <p:txBody>
          <a:bodyPr wrap="square" lIns="0" rIns="0" tIns="0" bIns="0">
            <a:spAutoFit/>
          </a:bodyPr>
          <a:lstStyle/>
          <a:p>
            <a:pPr marL="201168" indent="-201168">
              <a:spcAft>
                <a:spcPts val="600"/>
              </a:spcAft>
              <a:buChar char="•"/>
            </a:pPr>
            <a:r>
              <a:rPr sz="1300">
                <a:solidFill>
                  <a:srgbClr val="0B0B0B"/>
                </a:solidFill>
                <a:latin typeface="Calibri"/>
              </a:rPr>
              <a:t>A CUDA-event pair times from when the device reaches the start event to when it reaches the end event. If the device is idle when the start event is enqueued, the pair measures the host's launch span.</a:t>
            </a:r>
          </a:p>
          <a:p>
            <a:pPr marL="201168" indent="-201168">
              <a:spcAft>
                <a:spcPts val="600"/>
              </a:spcAft>
              <a:buChar char="•"/>
            </a:pPr>
            <a:r>
              <a:rPr sz="1300">
                <a:solidFill>
                  <a:srgbClr val="0B0B0B"/>
                </a:solidFill>
                <a:latin typeface="Calibri"/>
              </a:rPr>
              <a:t>One knob, no dip: holding the device 100 ms behind the host made every curve monotonic and equal to the traced kernel + ≈6 µs.</a:t>
            </a:r>
          </a:p>
          <a:p>
            <a:pPr marL="201168" indent="-201168">
              <a:spcAft>
                <a:spcPts val="600"/>
              </a:spcAft>
              <a:buChar char="•"/>
            </a:pPr>
            <a:r>
              <a:rPr sz="1300">
                <a:solidFill>
                  <a:srgbClr val="0B0B0B"/>
                </a:solidFill>
                <a:latin typeface="Calibri"/>
              </a:rPr>
              <a:t>Kernel traces: the o_proj kernel is monotonic through the dip; the GPU was idle 45–60 % of every forward at TP 2/4/8.</a:t>
            </a:r>
          </a:p>
          <a:p>
            <a:pPr marL="201168" indent="-201168">
              <a:spcAft>
                <a:spcPts val="600"/>
              </a:spcAft>
              <a:buChar char="•"/>
            </a:pPr>
            <a:r>
              <a:rPr sz="1300">
                <a:solidFill>
                  <a:srgbClr val="0B0B0B"/>
                </a:solidFill>
                <a:latin typeface="Calibri"/>
              </a:rPr>
              <a:t>Not confined to the dip: the old medians were 1.2–3× GPU time over most of the TP&gt;1 grid.</a:t>
            </a:r>
          </a:p>
          <a:p>
            <a:pPr marL="201168" indent="-201168">
              <a:spcAft>
                <a:spcPts val="600"/>
              </a:spcAft>
              <a:buChar char="•"/>
            </a:pPr>
            <a:r>
              <a:rPr sz="1300">
                <a:solidFill>
                  <a:srgbClr val="0B0B0B"/>
                </a:solidFill>
                <a:latin typeface="Calibri"/>
              </a:rPr>
              <a:t>Validated against a pre-registered prediction with seven falsification conditions before any fix was applied.</a:t>
            </a:r>
          </a:p>
        </p:txBody>
      </p:sp>
      <p:pic>
        <p:nvPicPr>
          <p:cNvPr id="5" name="Picture 4" descr="f11_dip_original_vs_gpu_backlog.png"/>
          <p:cNvPicPr>
            <a:picLocks noChangeAspect="1"/>
          </p:cNvPicPr>
          <p:nvPr/>
        </p:nvPicPr>
        <p:blipFill>
          <a:blip r:embed="rId2"/>
          <a:stretch>
            <a:fillRect/>
          </a:stretch>
        </p:blipFill>
        <p:spPr>
          <a:xfrm>
            <a:off x="6404779" y="1143000"/>
            <a:ext cx="4472601" cy="2560320"/>
          </a:xfrm>
          <a:prstGeom prst="rect">
            <a:avLst/>
          </a:prstGeom>
        </p:spPr>
      </p:pic>
      <p:pic>
        <p:nvPicPr>
          <p:cNvPr id="6" name="Picture 5" descr="f12_inflation_original_over_gpu_bound.png"/>
          <p:cNvPicPr>
            <a:picLocks noChangeAspect="1"/>
          </p:cNvPicPr>
          <p:nvPr/>
        </p:nvPicPr>
        <p:blipFill>
          <a:blip r:embed="rId3"/>
          <a:stretch>
            <a:fillRect/>
          </a:stretch>
        </p:blipFill>
        <p:spPr>
          <a:xfrm>
            <a:off x="6574006" y="3794760"/>
            <a:ext cx="4134147" cy="2103120"/>
          </a:xfrm>
          <a:prstGeom prst="rect">
            <a:avLst/>
          </a:prstGeom>
        </p:spPr>
      </p:pic>
      <p:sp>
        <p:nvSpPr>
          <p:cNvPr id="7" name="TextBox 6"/>
          <p:cNvSpPr txBox="1"/>
          <p:nvPr/>
        </p:nvSpPr>
        <p:spPr>
          <a:xfrm>
            <a:off x="5486400" y="5989320"/>
            <a:ext cx="6309360" cy="384048"/>
          </a:xfrm>
          <a:prstGeom prst="rect">
            <a:avLst/>
          </a:prstGeom>
          <a:noFill/>
        </p:spPr>
        <p:txBody>
          <a:bodyPr wrap="square" lIns="0" rIns="0" tIns="0" bIns="0" anchor="t">
            <a:spAutoFit/>
          </a:bodyPr>
          <a:lstStyle/>
          <a:p>
            <a:pPr algn="l"/>
            <a:r>
              <a:rPr sz="1000" b="0">
                <a:solidFill>
                  <a:srgbClr val="898781"/>
                </a:solidFill>
                <a:latin typeface="Calibri"/>
              </a:rPr>
              <a:t>Top: original vs device-held-busy medians (Fig. 12). Bottom: how inflated, by op × TP × tokens (Fig. 13).</a:t>
            </a:r>
          </a:p>
        </p:txBody>
      </p:sp>
      <p:sp>
        <p:nvSpPr>
          <p:cNvPr id="8" name="TextBox 7"/>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1BAF7A"/>
                </a:solidFill>
                <a:latin typeface="Calibri"/>
              </a:rPr>
              <a:t>ITERATION 2 · WHAT WE CHANGED, AND HOW THE DATA LOOKS NOW</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Two timing columns, a clock probe, the real RoPE kernel</a:t>
            </a:r>
          </a:p>
        </p:txBody>
      </p:sp>
      <p:sp>
        <p:nvSpPr>
          <p:cNvPr id="4" name="TextBox 3"/>
          <p:cNvSpPr txBox="1"/>
          <p:nvPr/>
        </p:nvSpPr>
        <p:spPr>
          <a:xfrm>
            <a:off x="457200" y="1234440"/>
            <a:ext cx="4754880" cy="4846320"/>
          </a:xfrm>
          <a:prstGeom prst="rect">
            <a:avLst/>
          </a:prstGeom>
          <a:noFill/>
        </p:spPr>
        <p:txBody>
          <a:bodyPr wrap="square" lIns="0" rIns="0" tIns="0" bIns="0">
            <a:spAutoFit/>
          </a:bodyPr>
          <a:lstStyle/>
          <a:p>
            <a:pPr marL="201168" indent="-201168">
              <a:spcAft>
                <a:spcPts val="600"/>
              </a:spcAft>
              <a:buChar char="•"/>
            </a:pPr>
            <a:r>
              <a:rPr sz="1300">
                <a:solidFill>
                  <a:srgbClr val="0B0B0B"/>
                </a:solidFill>
                <a:latin typeface="Calibri"/>
              </a:rPr>
              <a:t>Every shape timed twice: the legacy loop (kept as a record) and a GPU-bound pass behind a device backlog, re-armed every 25 forwards.</a:t>
            </a:r>
          </a:p>
          <a:p>
            <a:pPr marL="201168" indent="-201168">
              <a:spcAft>
                <a:spcPts val="600"/>
              </a:spcAft>
              <a:buChar char="•"/>
            </a:pPr>
            <a:r>
              <a:rPr sz="1300">
                <a:solidFill>
                  <a:srgbClr val="0B0B0B"/>
                </a:solidFill>
                <a:latin typeface="Calibri"/>
              </a:rPr>
              <a:t>A shader-clock probe on every row: warm-up did not warm the clock; the legacy loop started at ≈0.8 GHz.</a:t>
            </a:r>
          </a:p>
          <a:p>
            <a:pPr marL="201168" indent="-201168">
              <a:spcAft>
                <a:spcPts val="600"/>
              </a:spcAft>
              <a:buChar char="•"/>
            </a:pPr>
            <a:r>
              <a:rPr sz="1300">
                <a:solidFill>
                  <a:srgbClr val="0B0B0B"/>
                </a:solidFill>
                <a:latin typeface="Calibri"/>
              </a:rPr>
              <a:t>attn_rope had timed a numerically wrong torch fallback; replaced by the fused kernel, 2–8× cheaper.</a:t>
            </a:r>
          </a:p>
          <a:p>
            <a:pPr marL="201168" indent="-201168">
              <a:spcAft>
                <a:spcPts val="600"/>
              </a:spcAft>
              <a:buChar char="•"/>
            </a:pPr>
            <a:r>
              <a:rPr sz="1300">
                <a:solidFill>
                  <a:srgbClr val="0B0B0B"/>
                </a:solidFill>
                <a:latin typeface="Calibri"/>
              </a:rPr>
              <a:t>Measurement contract: the label is kernel time at a stated clock plus a separate launch-overhead term.</a:t>
            </a:r>
          </a:p>
          <a:p>
            <a:pPr marL="201168" indent="-201168">
              <a:spcAft>
                <a:spcPts val="600"/>
              </a:spcAft>
              <a:buChar char="•"/>
            </a:pPr>
            <a:r>
              <a:rPr sz="1300">
                <a:solidFill>
                  <a:srgbClr val="0B0B0B"/>
                </a:solidFill>
                <a:latin typeface="Calibri"/>
              </a:rPr>
              <a:t>Re-collected dense grid: no dip, no plateaus; the 15–30 % steps that remain are real hipBLASLt tile switches.</a:t>
            </a:r>
          </a:p>
        </p:txBody>
      </p:sp>
      <p:pic>
        <p:nvPicPr>
          <p:cNvPr id="5" name="Picture 4" descr="f18_dip_gone_old_vs_fixed.png"/>
          <p:cNvPicPr>
            <a:picLocks noChangeAspect="1"/>
          </p:cNvPicPr>
          <p:nvPr/>
        </p:nvPicPr>
        <p:blipFill>
          <a:blip r:embed="rId2"/>
          <a:stretch>
            <a:fillRect/>
          </a:stretch>
        </p:blipFill>
        <p:spPr>
          <a:xfrm>
            <a:off x="6085307" y="1143000"/>
            <a:ext cx="5111544" cy="2926080"/>
          </a:xfrm>
          <a:prstGeom prst="rect">
            <a:avLst/>
          </a:prstGeom>
        </p:spPr>
      </p:pic>
      <p:pic>
        <p:nvPicPr>
          <p:cNvPr id="6" name="Picture 5" descr="f16_rope_fallback_vs_fused.png"/>
          <p:cNvPicPr>
            <a:picLocks noChangeAspect="1"/>
          </p:cNvPicPr>
          <p:nvPr/>
        </p:nvPicPr>
        <p:blipFill>
          <a:blip r:embed="rId3"/>
          <a:stretch>
            <a:fillRect/>
          </a:stretch>
        </p:blipFill>
        <p:spPr>
          <a:xfrm>
            <a:off x="6316891" y="4114800"/>
            <a:ext cx="4648376" cy="1783080"/>
          </a:xfrm>
          <a:prstGeom prst="rect">
            <a:avLst/>
          </a:prstGeom>
        </p:spPr>
      </p:pic>
      <p:sp>
        <p:nvSpPr>
          <p:cNvPr id="7" name="TextBox 6"/>
          <p:cNvSpPr txBox="1"/>
          <p:nvPr/>
        </p:nvSpPr>
        <p:spPr>
          <a:xfrm>
            <a:off x="5486400" y="5989320"/>
            <a:ext cx="6309360" cy="384048"/>
          </a:xfrm>
          <a:prstGeom prst="rect">
            <a:avLst/>
          </a:prstGeom>
          <a:noFill/>
        </p:spPr>
        <p:txBody>
          <a:bodyPr wrap="square" lIns="0" rIns="0" tIns="0" bIns="0" anchor="t">
            <a:spAutoFit/>
          </a:bodyPr>
          <a:lstStyle/>
          <a:p>
            <a:pPr algn="l"/>
            <a:r>
              <a:rPr sz="1000" b="0">
                <a:solidFill>
                  <a:srgbClr val="898781"/>
                </a:solidFill>
                <a:latin typeface="Calibri"/>
              </a:rPr>
              <a:t>Top: old canonical (orange) vs fixed GPU-bound (blue): the dip is gone (Fig. 19). Bottom: RoPE fallback vs fused kernel (Fig. 17).</a:t>
            </a:r>
          </a:p>
        </p:txBody>
      </p:sp>
      <p:sp>
        <p:nvSpPr>
          <p:cNvPr id="8" name="TextBox 7"/>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EB6834"/>
                </a:solidFill>
                <a:latin typeface="Calibri"/>
              </a:rPr>
              <a:t>ITERATION 2 · STILL OPEN</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Clean medians, but the per-run samples show two new patterns</a:t>
            </a:r>
          </a:p>
        </p:txBody>
      </p:sp>
      <p:sp>
        <p:nvSpPr>
          <p:cNvPr id="4" name="TextBox 3"/>
          <p:cNvSpPr txBox="1"/>
          <p:nvPr/>
        </p:nvSpPr>
        <p:spPr>
          <a:xfrm>
            <a:off x="457200" y="1234440"/>
            <a:ext cx="4754880" cy="4572000"/>
          </a:xfrm>
          <a:prstGeom prst="rect">
            <a:avLst/>
          </a:prstGeom>
          <a:noFill/>
        </p:spPr>
        <p:txBody>
          <a:bodyPr wrap="square" lIns="0" rIns="0" tIns="0" bIns="0">
            <a:spAutoFit/>
          </a:bodyPr>
          <a:lstStyle/>
          <a:p>
            <a:pPr marL="201168" indent="-201168">
              <a:spcAft>
                <a:spcPts val="600"/>
              </a:spcAft>
              <a:buChar char="•"/>
            </a:pPr>
            <a:r>
              <a:rPr sz="1400">
                <a:solidFill>
                  <a:srgbClr val="0B0B0B"/>
                </a:solidFill>
                <a:latin typeface="Calibri"/>
              </a:rPr>
              <a:t>Within every 25-run block the samples decline 2–3 % from run 3 to run 25; the last run is the minimum far more often than chance.</a:t>
            </a:r>
          </a:p>
          <a:p>
            <a:pPr marL="201168" indent="-201168">
              <a:spcAft>
                <a:spcPts val="600"/>
              </a:spcAft>
              <a:buChar char="•"/>
            </a:pPr>
            <a:r>
              <a:rPr sz="1400">
                <a:solidFill>
                  <a:srgbClr val="0B0B0B"/>
                </a:solidFill>
                <a:latin typeface="Calibri"/>
              </a:rPr>
              <a:t>At TP&gt;1 attn_pre_proj has its maximum at run 20 in 42–60 % of rows, and at run 118 in the 200-run file.</a:t>
            </a:r>
          </a:p>
          <a:p>
            <a:pPr marL="201168" indent="-201168">
              <a:spcAft>
                <a:spcPts val="600"/>
              </a:spcAft>
              <a:buChar char="•"/>
            </a:pPr>
            <a:r>
              <a:rPr sz="1400">
                <a:solidFill>
                  <a:srgbClr val="0B0B0B"/>
                </a:solidFill>
                <a:latin typeface="Calibri"/>
              </a:rPr>
              <a:t>Medians are barely affected, but min/max/mean/std are, and a settled number should not depend on where in the block it was taken.</a:t>
            </a:r>
          </a:p>
        </p:txBody>
      </p:sp>
      <p:pic>
        <p:nvPicPr>
          <p:cNvPr id="5" name="Picture 4" descr="f23_position_profile_fixed_25.png"/>
          <p:cNvPicPr>
            <a:picLocks noChangeAspect="1"/>
          </p:cNvPicPr>
          <p:nvPr/>
        </p:nvPicPr>
        <p:blipFill>
          <a:blip r:embed="rId2"/>
          <a:stretch>
            <a:fillRect/>
          </a:stretch>
        </p:blipFill>
        <p:spPr>
          <a:xfrm>
            <a:off x="5486400" y="2416618"/>
            <a:ext cx="6309360" cy="2116203"/>
          </a:xfrm>
          <a:prstGeom prst="rect">
            <a:avLst/>
          </a:prstGeom>
        </p:spPr>
      </p:pic>
      <p:sp>
        <p:nvSpPr>
          <p:cNvPr id="6" name="TextBox 5"/>
          <p:cNvSpPr txBox="1"/>
          <p:nvPr/>
        </p:nvSpPr>
        <p:spPr>
          <a:xfrm>
            <a:off x="5486400" y="5852160"/>
            <a:ext cx="6309360" cy="384048"/>
          </a:xfrm>
          <a:prstGeom prst="rect">
            <a:avLst/>
          </a:prstGeom>
          <a:noFill/>
        </p:spPr>
        <p:txBody>
          <a:bodyPr wrap="square" lIns="0" rIns="0" tIns="0" bIns="0" anchor="t">
            <a:spAutoFit/>
          </a:bodyPr>
          <a:lstStyle/>
          <a:p>
            <a:pPr algn="l"/>
            <a:r>
              <a:rPr sz="1000" b="0">
                <a:solidFill>
                  <a:srgbClr val="898781"/>
                </a:solidFill>
                <a:latin typeface="Calibri"/>
              </a:rPr>
              <a:t>Run-position profile of attn_pre_proj in the fixed collection: GPU-bound column left, legacy column right (Fig. 24).</a:t>
            </a:r>
          </a:p>
        </p:txBody>
      </p:sp>
      <p:sp>
        <p:nvSpPr>
          <p:cNvPr id="7" name="TextBox 6"/>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457200" y="2194560"/>
            <a:ext cx="11277295" cy="822960"/>
          </a:xfrm>
          <a:prstGeom prst="rect">
            <a:avLst/>
          </a:prstGeom>
          <a:noFill/>
        </p:spPr>
        <p:txBody>
          <a:bodyPr wrap="square" lIns="0" rIns="0" tIns="0" bIns="0" anchor="t">
            <a:spAutoFit/>
          </a:bodyPr>
          <a:lstStyle/>
          <a:p>
            <a:pPr algn="l"/>
            <a:r>
              <a:rPr sz="4000" b="1">
                <a:solidFill>
                  <a:srgbClr val="FFFFFF"/>
                </a:solidFill>
                <a:latin typeface="Calibri"/>
              </a:rPr>
              <a:t>Iteration 3</a:t>
            </a:r>
          </a:p>
        </p:txBody>
      </p:sp>
      <p:sp>
        <p:nvSpPr>
          <p:cNvPr id="3" name="TextBox 2"/>
          <p:cNvSpPr txBox="1"/>
          <p:nvPr/>
        </p:nvSpPr>
        <p:spPr>
          <a:xfrm>
            <a:off x="457200" y="3063240"/>
            <a:ext cx="11277295" cy="548640"/>
          </a:xfrm>
          <a:prstGeom prst="rect">
            <a:avLst/>
          </a:prstGeom>
          <a:noFill/>
        </p:spPr>
        <p:txBody>
          <a:bodyPr wrap="square" lIns="0" rIns="0" tIns="0" bIns="0" anchor="t">
            <a:spAutoFit/>
          </a:bodyPr>
          <a:lstStyle/>
          <a:p>
            <a:pPr algn="l"/>
            <a:r>
              <a:rPr sz="2200" b="0">
                <a:solidFill>
                  <a:srgbClr val="CADCFC"/>
                </a:solidFill>
                <a:latin typeface="Calibri"/>
              </a:rPr>
              <a:t>Run-position patterns in the corrected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2A78D6"/>
                </a:solidFill>
                <a:latin typeface="Calibri"/>
              </a:rPr>
              <a:t>ITERATION 3 · THE DATA WE STARTED WITH</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A ramp in every block, a spike at a fixed position</a:t>
            </a:r>
          </a:p>
        </p:txBody>
      </p:sp>
      <p:pic>
        <p:nvPicPr>
          <p:cNvPr id="4" name="Picture 3" descr="f24_position_profile_200_reps.png"/>
          <p:cNvPicPr>
            <a:picLocks noChangeAspect="1"/>
          </p:cNvPicPr>
          <p:nvPr/>
        </p:nvPicPr>
        <p:blipFill>
          <a:blip r:embed="rId2"/>
          <a:stretch>
            <a:fillRect/>
          </a:stretch>
        </p:blipFill>
        <p:spPr>
          <a:xfrm>
            <a:off x="457200" y="1817128"/>
            <a:ext cx="6949440" cy="3498062"/>
          </a:xfrm>
          <a:prstGeom prst="rect">
            <a:avLst/>
          </a:prstGeom>
        </p:spPr>
      </p:pic>
      <p:sp>
        <p:nvSpPr>
          <p:cNvPr id="5" name="TextBox 4"/>
          <p:cNvSpPr txBox="1"/>
          <p:nvPr/>
        </p:nvSpPr>
        <p:spPr>
          <a:xfrm>
            <a:off x="7680960" y="1234440"/>
            <a:ext cx="4069080" cy="4754880"/>
          </a:xfrm>
          <a:prstGeom prst="rect">
            <a:avLst/>
          </a:prstGeom>
          <a:noFill/>
        </p:spPr>
        <p:txBody>
          <a:bodyPr wrap="square" lIns="0" rIns="0" tIns="0" bIns="0">
            <a:spAutoFit/>
          </a:bodyPr>
          <a:lstStyle/>
          <a:p>
            <a:pPr marL="201168" indent="-201168">
              <a:spcAft>
                <a:spcPts val="600"/>
              </a:spcAft>
              <a:buChar char="•"/>
            </a:pPr>
            <a:r>
              <a:rPr sz="1300">
                <a:solidFill>
                  <a:srgbClr val="0B0B0B"/>
                </a:solidFill>
                <a:latin typeface="Calibri"/>
              </a:rPr>
              <a:t>200 runs as 8 spun blocks of 25: the downward ramp restarts after every re-armed spin.</a:t>
            </a:r>
          </a:p>
          <a:p>
            <a:pPr marL="201168" indent="-201168">
              <a:spcAft>
                <a:spcPts val="600"/>
              </a:spcAft>
              <a:buChar char="•"/>
            </a:pPr>
            <a:r>
              <a:rPr sz="1300">
                <a:solidFill>
                  <a:srgbClr val="0B0B0B"/>
                </a:solidFill>
                <a:latin typeface="Calibri"/>
              </a:rPr>
              <a:t>Spikes fall exactly at runs 20, 40, 59, 79, 98, 118, 138, 157, 177, 196: predicted in advance by one barrier per 1000 commands since the last synchronize.</a:t>
            </a:r>
          </a:p>
          <a:p>
            <a:pPr marL="201168" indent="-201168">
              <a:spcAft>
                <a:spcPts val="600"/>
              </a:spcAft>
              <a:buChar char="•"/>
            </a:pPr>
            <a:r>
              <a:rPr sz="1300">
                <a:solidFill>
                  <a:srgbClr val="0B0B0B"/>
                </a:solidFill>
                <a:latin typeface="Calibri"/>
              </a:rPr>
              <a:t>Two separate mechanisms, both invisible in medians.</a:t>
            </a:r>
          </a:p>
        </p:txBody>
      </p:sp>
      <p:sp>
        <p:nvSpPr>
          <p:cNvPr id="6" name="TextBox 5"/>
          <p:cNvSpPr txBox="1"/>
          <p:nvPr/>
        </p:nvSpPr>
        <p:spPr>
          <a:xfrm>
            <a:off x="457200" y="5989320"/>
            <a:ext cx="6949440" cy="384048"/>
          </a:xfrm>
          <a:prstGeom prst="rect">
            <a:avLst/>
          </a:prstGeom>
          <a:noFill/>
        </p:spPr>
        <p:txBody>
          <a:bodyPr wrap="square" lIns="0" rIns="0" tIns="0" bIns="0" anchor="t">
            <a:spAutoFit/>
          </a:bodyPr>
          <a:lstStyle/>
          <a:p>
            <a:pPr algn="l"/>
            <a:r>
              <a:rPr sz="1000" b="0">
                <a:solidFill>
                  <a:srgbClr val="898781"/>
                </a:solidFill>
                <a:latin typeface="Calibri"/>
              </a:rPr>
              <a:t>attn_pre_proj and whole-forward span over 200 runs; dotted = spin re-armed, red = predicted barrier positions (Fig. 25).</a:t>
            </a:r>
          </a:p>
        </p:txBody>
      </p:sp>
      <p:sp>
        <p:nvSpPr>
          <p:cNvPr id="7" name="TextBox 6"/>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D03B3B"/>
                </a:solidFill>
                <a:latin typeface="Calibri"/>
              </a:rPr>
              <a:t>ITERATION 3 · WHAT WAS THE PROBLEM</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The idle spin drops the clocks; the runtime adds a barrier</a:t>
            </a:r>
          </a:p>
        </p:txBody>
      </p:sp>
      <p:sp>
        <p:nvSpPr>
          <p:cNvPr id="4" name="TextBox 3"/>
          <p:cNvSpPr txBox="1"/>
          <p:nvPr/>
        </p:nvSpPr>
        <p:spPr>
          <a:xfrm>
            <a:off x="457200" y="1234440"/>
            <a:ext cx="4754880" cy="4846320"/>
          </a:xfrm>
          <a:prstGeom prst="rect">
            <a:avLst/>
          </a:prstGeom>
          <a:noFill/>
        </p:spPr>
        <p:txBody>
          <a:bodyPr wrap="square" lIns="0" rIns="0" tIns="0" bIns="0">
            <a:spAutoFit/>
          </a:bodyPr>
          <a:lstStyle/>
          <a:p>
            <a:pPr marL="201168" indent="-201168">
              <a:spcAft>
                <a:spcPts val="600"/>
              </a:spcAft>
              <a:buChar char="•"/>
            </a:pPr>
            <a:r>
              <a:rPr sz="1300">
                <a:solidFill>
                  <a:srgbClr val="0B0B0B"/>
                </a:solidFill>
                <a:latin typeface="Calibri"/>
              </a:rPr>
              <a:t>Effect 1, the ramp: the torch.cuda._sleep spin used as backlog is a low-activity state; the clock domains idle and the first 10–15 forwards of every block run while they ramp back up. Replacing the spin by real GEMMs removes it in single-GPU probes.</a:t>
            </a:r>
          </a:p>
          <a:p>
            <a:pPr marL="201168" indent="-201168">
              <a:spcAft>
                <a:spcPts val="600"/>
              </a:spcAft>
              <a:buChar char="•"/>
            </a:pPr>
            <a:r>
              <a:rPr sz="1300">
                <a:solidFill>
                  <a:srgbClr val="0B0B0B"/>
                </a:solidFill>
                <a:latin typeface="Calibri"/>
              </a:rPr>
              <a:t>Effect 2, the spike: ROCclr enqueues a clean-up marker after every 1000 commands; on the device it is a barrier with system-scope fences costing ≈5.5 µs, landing in forward 20's attn_pre_proj at TP&gt;1. Confirmed in a kernel trace, the runtime log and the ROCclr source.</a:t>
            </a:r>
          </a:p>
        </p:txBody>
      </p:sp>
      <p:pic>
        <p:nvPicPr>
          <p:cNvPr id="5" name="Picture 4" descr="f26_clock_ramp_after_spin.png"/>
          <p:cNvPicPr>
            <a:picLocks noChangeAspect="1"/>
          </p:cNvPicPr>
          <p:nvPr/>
        </p:nvPicPr>
        <p:blipFill>
          <a:blip r:embed="rId2"/>
          <a:stretch>
            <a:fillRect/>
          </a:stretch>
        </p:blipFill>
        <p:spPr>
          <a:xfrm>
            <a:off x="5593630" y="1143000"/>
            <a:ext cx="6094898" cy="2286000"/>
          </a:xfrm>
          <a:prstGeom prst="rect">
            <a:avLst/>
          </a:prstGeom>
        </p:spPr>
      </p:pic>
      <p:pic>
        <p:nvPicPr>
          <p:cNvPr id="6" name="Picture 5" descr="f29_effect1_fix_variants.png"/>
          <p:cNvPicPr>
            <a:picLocks noChangeAspect="1"/>
          </p:cNvPicPr>
          <p:nvPr/>
        </p:nvPicPr>
        <p:blipFill>
          <a:blip r:embed="rId3"/>
          <a:stretch>
            <a:fillRect/>
          </a:stretch>
        </p:blipFill>
        <p:spPr>
          <a:xfrm>
            <a:off x="5510784" y="3520440"/>
            <a:ext cx="6260592" cy="2377440"/>
          </a:xfrm>
          <a:prstGeom prst="rect">
            <a:avLst/>
          </a:prstGeom>
        </p:spPr>
      </p:pic>
      <p:sp>
        <p:nvSpPr>
          <p:cNvPr id="7" name="TextBox 6"/>
          <p:cNvSpPr txBox="1"/>
          <p:nvPr/>
        </p:nvSpPr>
        <p:spPr>
          <a:xfrm>
            <a:off x="5486400" y="5989320"/>
            <a:ext cx="6309360" cy="384048"/>
          </a:xfrm>
          <a:prstGeom prst="rect">
            <a:avLst/>
          </a:prstGeom>
          <a:noFill/>
        </p:spPr>
        <p:txBody>
          <a:bodyPr wrap="square" lIns="0" rIns="0" tIns="0" bIns="0" anchor="t">
            <a:spAutoFit/>
          </a:bodyPr>
          <a:lstStyle/>
          <a:p>
            <a:pPr algn="l"/>
            <a:r>
              <a:rPr sz="1000" b="0">
                <a:solidFill>
                  <a:srgbClr val="898781"/>
                </a:solidFill>
                <a:latin typeface="Calibri"/>
              </a:rPr>
              <a:t>Top: clock after the spin, and spin vs GEMM backlog (Fig. 26). Bottom: the fix campaign; only a work backlog removes the drift (Fig. 28).</a:t>
            </a:r>
          </a:p>
        </p:txBody>
      </p:sp>
      <p:sp>
        <p:nvSpPr>
          <p:cNvPr id="8" name="TextBox 7"/>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1BAF7A"/>
                </a:solidFill>
                <a:latin typeface="Calibri"/>
              </a:rPr>
              <a:t>ITERATION 3 · WHAT WE CHANGED, AND HOW THE DATA LOOKS NOW</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Work backlog + 8 settle forwards + a runtime flag</a:t>
            </a:r>
          </a:p>
        </p:txBody>
      </p:sp>
      <p:sp>
        <p:nvSpPr>
          <p:cNvPr id="4" name="TextBox 3"/>
          <p:cNvSpPr txBox="1"/>
          <p:nvPr/>
        </p:nvSpPr>
        <p:spPr>
          <a:xfrm>
            <a:off x="457200" y="1234440"/>
            <a:ext cx="4754880" cy="4846320"/>
          </a:xfrm>
          <a:prstGeom prst="rect">
            <a:avLst/>
          </a:prstGeom>
          <a:noFill/>
        </p:spPr>
        <p:txBody>
          <a:bodyPr wrap="square" lIns="0" rIns="0" tIns="0" bIns="0">
            <a:spAutoFit/>
          </a:bodyPr>
          <a:lstStyle/>
          <a:p>
            <a:pPr marL="201168" indent="-201168">
              <a:spcAft>
                <a:spcPts val="600"/>
              </a:spcAft>
              <a:buChar char="•"/>
            </a:pPr>
            <a:r>
              <a:rPr sz="1300">
                <a:solidFill>
                  <a:srgbClr val="0B0B0B"/>
                </a:solidFill>
                <a:latin typeface="Calibri"/>
              </a:rPr>
              <a:t>DEBUG_CLR_MAX_BATCH_SIZE=1000000 in the container: the barrier never lands inside a timed block; the run-20 spike and the legacy stall are gone.</a:t>
            </a:r>
          </a:p>
          <a:p>
            <a:pPr marL="201168" indent="-201168">
              <a:spcAft>
                <a:spcPts val="600"/>
              </a:spcAft>
              <a:buChar char="•"/>
            </a:pPr>
            <a:r>
              <a:rPr sz="1300">
                <a:solidFill>
                  <a:srgbClr val="0B0B0B"/>
                </a:solidFill>
                <a:latin typeface="Calibri"/>
              </a:rPr>
              <a:t>Backlog = an allocating chain of 4096² GEMMs (settle-only after the spin was ruled out; two other backlog kinds tried), then 8 untimed settle forwards.</a:t>
            </a:r>
          </a:p>
          <a:p>
            <a:pPr marL="201168" indent="-201168">
              <a:spcAft>
                <a:spcPts val="600"/>
              </a:spcAft>
              <a:buChar char="•"/>
            </a:pPr>
            <a:r>
              <a:rPr sz="1300">
                <a:solidFill>
                  <a:srgbClr val="0B0B0B"/>
                </a:solidFill>
                <a:latin typeface="Calibri"/>
              </a:rPr>
              <a:t>Dense grid: profiles flat from run 1 at TP 4/8; medians 2–3 % lower than the spin collections, the settled clock; per-row spread 40 % smaller.</a:t>
            </a:r>
          </a:p>
          <a:p>
            <a:pPr marL="201168" indent="-201168">
              <a:spcAft>
                <a:spcPts val="600"/>
              </a:spcAft>
              <a:buChar char="•"/>
            </a:pPr>
            <a:r>
              <a:rPr sz="1300">
                <a:solidFill>
                  <a:srgbClr val="0B0B0B"/>
                </a:solidFill>
                <a:latin typeface="Calibri"/>
              </a:rPr>
              <a:t>This file (job 21539) is the one handed to the regressor, with a checksum and a handoff document defining the label.</a:t>
            </a:r>
          </a:p>
        </p:txBody>
      </p:sp>
      <p:pic>
        <p:nvPicPr>
          <p:cNvPr id="5" name="Picture 4" descr="f27_settle_position_profiles.png"/>
          <p:cNvPicPr>
            <a:picLocks noChangeAspect="1"/>
          </p:cNvPicPr>
          <p:nvPr/>
        </p:nvPicPr>
        <p:blipFill>
          <a:blip r:embed="rId2"/>
          <a:stretch>
            <a:fillRect/>
          </a:stretch>
        </p:blipFill>
        <p:spPr>
          <a:xfrm>
            <a:off x="5561422" y="1143000"/>
            <a:ext cx="6159315" cy="1920240"/>
          </a:xfrm>
          <a:prstGeom prst="rect">
            <a:avLst/>
          </a:prstGeom>
        </p:spPr>
      </p:pic>
      <p:pic>
        <p:nvPicPr>
          <p:cNvPr id="6" name="Picture 5" descr="f30_final_dataset_medians.png"/>
          <p:cNvPicPr>
            <a:picLocks noChangeAspect="1"/>
          </p:cNvPicPr>
          <p:nvPr/>
        </p:nvPicPr>
        <p:blipFill>
          <a:blip r:embed="rId3"/>
          <a:stretch>
            <a:fillRect/>
          </a:stretch>
        </p:blipFill>
        <p:spPr>
          <a:xfrm>
            <a:off x="5486400" y="3416448"/>
            <a:ext cx="6309360" cy="2219662"/>
          </a:xfrm>
          <a:prstGeom prst="rect">
            <a:avLst/>
          </a:prstGeom>
        </p:spPr>
      </p:pic>
      <p:sp>
        <p:nvSpPr>
          <p:cNvPr id="7" name="TextBox 6"/>
          <p:cNvSpPr txBox="1"/>
          <p:nvPr/>
        </p:nvSpPr>
        <p:spPr>
          <a:xfrm>
            <a:off x="5486400" y="5989320"/>
            <a:ext cx="6309360" cy="384048"/>
          </a:xfrm>
          <a:prstGeom prst="rect">
            <a:avLst/>
          </a:prstGeom>
          <a:noFill/>
        </p:spPr>
        <p:txBody>
          <a:bodyPr wrap="square" lIns="0" rIns="0" tIns="0" bIns="0" anchor="t">
            <a:spAutoFit/>
          </a:bodyPr>
          <a:lstStyle/>
          <a:p>
            <a:pPr algn="l"/>
            <a:r>
              <a:rPr sz="1000" b="0">
                <a:solidFill>
                  <a:srgbClr val="898781"/>
                </a:solidFill>
                <a:latin typeface="Calibri"/>
              </a:rPr>
              <a:t>Top: spin vs work backlog vs +8 settle, per TP (Fig. 29). Bottom: the handed-off dataset (Fig. 31).</a:t>
            </a:r>
          </a:p>
        </p:txBody>
      </p:sp>
      <p:sp>
        <p:nvSpPr>
          <p:cNvPr id="8" name="TextBox 7"/>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28016"/>
            <a:ext cx="8229600" cy="256032"/>
          </a:xfrm>
          <a:prstGeom prst="rect">
            <a:avLst/>
          </a:prstGeom>
          <a:noFill/>
        </p:spPr>
        <p:txBody>
          <a:bodyPr wrap="square" lIns="0" rIns="0" tIns="0" bIns="0" anchor="t">
            <a:spAutoFit/>
          </a:bodyPr>
          <a:lstStyle/>
          <a:p>
            <a:pPr algn="l"/>
            <a:r>
              <a:rPr sz="1100" b="1" spc="150">
                <a:solidFill>
                  <a:srgbClr val="EB6834"/>
                </a:solidFill>
                <a:latin typeface="Calibri"/>
              </a:rPr>
              <a:t>ITERATION 3 · STILL OPEN</a:t>
            </a:r>
          </a:p>
        </p:txBody>
      </p:sp>
      <p:sp>
        <p:nvSpPr>
          <p:cNvPr id="3" name="TextBox 2"/>
          <p:cNvSpPr txBox="1"/>
          <p:nvPr/>
        </p:nvSpPr>
        <p:spPr>
          <a:xfrm>
            <a:off x="457200" y="384048"/>
            <a:ext cx="11277295" cy="640080"/>
          </a:xfrm>
          <a:prstGeom prst="rect">
            <a:avLst/>
          </a:prstGeom>
          <a:noFill/>
        </p:spPr>
        <p:txBody>
          <a:bodyPr wrap="square" lIns="0" rIns="0" tIns="0" bIns="0" anchor="ctr">
            <a:spAutoFit/>
          </a:bodyPr>
          <a:lstStyle/>
          <a:p>
            <a:pPr algn="l"/>
            <a:r>
              <a:rPr sz="2800" b="1">
                <a:solidFill>
                  <a:srgbClr val="0B0B0B"/>
                </a:solidFill>
                <a:latin typeface="Calibri"/>
              </a:rPr>
              <a:t>What we still have</a:t>
            </a:r>
          </a:p>
        </p:txBody>
      </p:sp>
      <p:sp>
        <p:nvSpPr>
          <p:cNvPr id="4" name="TextBox 3"/>
          <p:cNvSpPr txBox="1"/>
          <p:nvPr/>
        </p:nvSpPr>
        <p:spPr>
          <a:xfrm>
            <a:off x="457200" y="1234440"/>
            <a:ext cx="5852160" cy="4846320"/>
          </a:xfrm>
          <a:prstGeom prst="rect">
            <a:avLst/>
          </a:prstGeom>
          <a:noFill/>
        </p:spPr>
        <p:txBody>
          <a:bodyPr wrap="square" lIns="0" rIns="0" tIns="0" bIns="0">
            <a:spAutoFit/>
          </a:bodyPr>
          <a:lstStyle/>
          <a:p>
            <a:pPr marL="201168" indent="-201168">
              <a:spcAft>
                <a:spcPts val="600"/>
              </a:spcAft>
              <a:buChar char="•"/>
            </a:pPr>
            <a:r>
              <a:rPr sz="1400">
                <a:solidFill>
                  <a:srgbClr val="0B0B0B"/>
                </a:solidFill>
                <a:latin typeface="Calibri"/>
              </a:rPr>
              <a:t>A slow 0.9–1.3 % decline over the block at TP 1/2 in 8-GPU runs, independent of the settle count and absent on a single GPU: probably clock or thermal settling under full-node load. Medians move &lt; 0.5 %.</a:t>
            </a:r>
          </a:p>
          <a:p>
            <a:pPr marL="201168" indent="-201168">
              <a:spcAft>
                <a:spcPts val="600"/>
              </a:spcAft>
              <a:buChar char="•"/>
            </a:pPr>
            <a:r>
              <a:rPr sz="1400">
                <a:solidFill>
                  <a:srgbClr val="0B0B0B"/>
                </a:solidFill>
                <a:latin typeface="Calibri"/>
              </a:rPr>
              <a:t>Kernels below ≈10 µs sit inside the instrument's ≈3 µs floor and are not cross-validated between event pairs and traces.</a:t>
            </a:r>
          </a:p>
          <a:p>
            <a:pPr marL="201168" indent="-201168">
              <a:spcAft>
                <a:spcPts val="600"/>
              </a:spcAft>
              <a:buChar char="•"/>
            </a:pPr>
            <a:r>
              <a:rPr sz="1400">
                <a:solidFill>
                  <a:srgbClr val="0B0B0B"/>
                </a:solidFill>
                <a:latin typeface="Calibri"/>
              </a:rPr>
              <a:t>The locked-clock dataset the contract calls for has not been collected.</a:t>
            </a:r>
          </a:p>
          <a:p>
            <a:pPr marL="201168" indent="-201168">
              <a:spcAft>
                <a:spcPts val="600"/>
              </a:spcAft>
              <a:buChar char="•"/>
            </a:pPr>
            <a:r>
              <a:rPr sz="1400">
                <a:solidFill>
                  <a:srgbClr val="0B0B0B"/>
                </a:solidFill>
                <a:latin typeface="Calibri"/>
              </a:rPr>
              <a:t>The dataset README names the 200-forward file as canonical while the handoff points at the settle-8 file; one has to give.</a:t>
            </a:r>
          </a:p>
          <a:p>
            <a:pPr marL="201168" indent="-201168">
              <a:spcAft>
                <a:spcPts val="600"/>
              </a:spcAft>
              <a:buChar char="•"/>
            </a:pPr>
            <a:r>
              <a:rPr sz="1400">
                <a:solidFill>
                  <a:srgbClr val="0B0B0B"/>
                </a:solidFill>
                <a:latin typeface="Calibri"/>
              </a:rPr>
              <a:t>The attention datasets never had this per-run scrutiny.</a:t>
            </a:r>
          </a:p>
        </p:txBody>
      </p:sp>
      <p:pic>
        <p:nvPicPr>
          <p:cNvPr id="5" name="Picture 4" descr="f28_settled_vs_spin_medians.png"/>
          <p:cNvPicPr>
            <a:picLocks noChangeAspect="1"/>
          </p:cNvPicPr>
          <p:nvPr/>
        </p:nvPicPr>
        <p:blipFill>
          <a:blip r:embed="rId2"/>
          <a:stretch>
            <a:fillRect/>
          </a:stretch>
        </p:blipFill>
        <p:spPr>
          <a:xfrm>
            <a:off x="6583680" y="2420742"/>
            <a:ext cx="5212080" cy="1833634"/>
          </a:xfrm>
          <a:prstGeom prst="rect">
            <a:avLst/>
          </a:prstGeom>
        </p:spPr>
      </p:pic>
      <p:sp>
        <p:nvSpPr>
          <p:cNvPr id="6" name="TextBox 5"/>
          <p:cNvSpPr txBox="1"/>
          <p:nvPr/>
        </p:nvSpPr>
        <p:spPr>
          <a:xfrm>
            <a:off x="6583680" y="5577840"/>
            <a:ext cx="5212080" cy="384048"/>
          </a:xfrm>
          <a:prstGeom prst="rect">
            <a:avLst/>
          </a:prstGeom>
          <a:noFill/>
        </p:spPr>
        <p:txBody>
          <a:bodyPr wrap="square" lIns="0" rIns="0" tIns="0" bIns="0" anchor="t">
            <a:spAutoFit/>
          </a:bodyPr>
          <a:lstStyle/>
          <a:p>
            <a:pPr algn="l"/>
            <a:r>
              <a:rPr sz="1000" b="0">
                <a:solidFill>
                  <a:srgbClr val="898781"/>
                </a:solidFill>
                <a:latin typeface="Calibri"/>
              </a:rPr>
              <a:t>Settled ÷ spin medians: what the ramp had cost (Fig. 30).</a:t>
            </a:r>
          </a:p>
        </p:txBody>
      </p:sp>
      <p:sp>
        <p:nvSpPr>
          <p:cNvPr id="7" name="TextBox 6"/>
          <p:cNvSpPr txBox="1"/>
          <p:nvPr/>
        </p:nvSpPr>
        <p:spPr>
          <a:xfrm>
            <a:off x="11185855" y="6473952"/>
            <a:ext cx="548640" cy="256032"/>
          </a:xfrm>
          <a:prstGeom prst="rect">
            <a:avLst/>
          </a:prstGeom>
          <a:noFill/>
        </p:spPr>
        <p:txBody>
          <a:bodyPr wrap="square" lIns="0" rIns="0" tIns="0" bIns="0" anchor="t">
            <a:spAutoFit/>
          </a:bodyPr>
          <a:lstStyle/>
          <a:p>
            <a:pPr algn="r"/>
            <a:r>
              <a:rPr sz="1000" b="0">
                <a:solidFill>
                  <a:srgbClr val="898781"/>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457200" y="548640"/>
            <a:ext cx="11277295" cy="731520"/>
          </a:xfrm>
          <a:prstGeom prst="rect">
            <a:avLst/>
          </a:prstGeom>
          <a:noFill/>
        </p:spPr>
        <p:txBody>
          <a:bodyPr wrap="square" lIns="0" rIns="0" tIns="0" bIns="0" anchor="t">
            <a:spAutoFit/>
          </a:bodyPr>
          <a:lstStyle/>
          <a:p>
            <a:pPr algn="l"/>
            <a:r>
              <a:rPr sz="3200" b="1">
                <a:solidFill>
                  <a:srgbClr val="FFFFFF"/>
                </a:solidFill>
                <a:latin typeface="Calibri"/>
              </a:rPr>
              <a:t>What we learned</a:t>
            </a:r>
          </a:p>
        </p:txBody>
      </p:sp>
      <p:sp>
        <p:nvSpPr>
          <p:cNvPr id="3" name="TextBox 2"/>
          <p:cNvSpPr txBox="1"/>
          <p:nvPr/>
        </p:nvSpPr>
        <p:spPr>
          <a:xfrm>
            <a:off x="457200" y="1554480"/>
            <a:ext cx="11277295" cy="3840480"/>
          </a:xfrm>
          <a:prstGeom prst="rect">
            <a:avLst/>
          </a:prstGeom>
          <a:noFill/>
        </p:spPr>
        <p:txBody>
          <a:bodyPr wrap="square" lIns="0" rIns="0" tIns="0" bIns="0">
            <a:spAutoFit/>
          </a:bodyPr>
          <a:lstStyle/>
          <a:p>
            <a:pPr marL="201168" indent="-201168">
              <a:spcAft>
                <a:spcPts val="1200"/>
              </a:spcAft>
              <a:buChar char="•"/>
            </a:pPr>
            <a:r>
              <a:rPr sz="1800">
                <a:solidFill>
                  <a:srgbClr val="FFFFFF"/>
                </a:solidFill>
                <a:latin typeface="Calibri"/>
              </a:rPr>
              <a:t>Keep every sample. All three anomalies were invisible in medians and obvious in per-run data.</a:t>
            </a:r>
          </a:p>
          <a:p>
            <a:pPr marL="201168" indent="-201168">
              <a:spcAft>
                <a:spcPts val="1200"/>
              </a:spcAft>
              <a:buChar char="•"/>
            </a:pPr>
            <a:r>
              <a:rPr sz="1800">
                <a:solidFill>
                  <a:srgbClr val="FFFFFF"/>
                </a:solidFill>
                <a:latin typeface="Calibri"/>
              </a:rPr>
              <a:t>Write the prediction down before the run. The dip conclusion, the barrier positions and the fix acceptance criteria were all committed in advance.</a:t>
            </a:r>
          </a:p>
          <a:p>
            <a:pPr marL="201168" indent="-201168">
              <a:spcAft>
                <a:spcPts val="1200"/>
              </a:spcAft>
              <a:buChar char="•"/>
            </a:pPr>
            <a:r>
              <a:rPr sz="1800">
                <a:solidFill>
                  <a:srgbClr val="FFFFFF"/>
                </a:solidFill>
                <a:latin typeface="Calibri"/>
              </a:rPr>
              <a:t>State what the number is. The measurement contract, the clock probe and the two columns exist so a per-op sum never mixes host spans with kernels.</a:t>
            </a:r>
          </a:p>
          <a:p>
            <a:pPr marL="201168" indent="-201168">
              <a:spcAft>
                <a:spcPts val="1200"/>
              </a:spcAft>
              <a:buChar char="•"/>
            </a:pPr>
            <a:r>
              <a:rPr sz="1800">
                <a:solidFill>
                  <a:srgbClr val="FFFFFF"/>
                </a:solidFill>
                <a:latin typeface="Calibri"/>
              </a:rPr>
              <a:t>The old file overstated GEMMs 1.3–2.9× and RoPE 4–12×. The new one is monotonic, instrument-accounted and 2–3 % lower again once the clock was settled.</a:t>
            </a:r>
          </a:p>
        </p:txBody>
      </p:sp>
      <p:sp>
        <p:nvSpPr>
          <p:cNvPr id="4" name="TextBox 3"/>
          <p:cNvSpPr txBox="1"/>
          <p:nvPr/>
        </p:nvSpPr>
        <p:spPr>
          <a:xfrm>
            <a:off x="457200" y="5943600"/>
            <a:ext cx="11277295" cy="365760"/>
          </a:xfrm>
          <a:prstGeom prst="rect">
            <a:avLst/>
          </a:prstGeom>
          <a:noFill/>
        </p:spPr>
        <p:txBody>
          <a:bodyPr wrap="square" lIns="0" rIns="0" tIns="0" bIns="0" anchor="t">
            <a:spAutoFit/>
          </a:bodyPr>
          <a:lstStyle/>
          <a:p>
            <a:pPr algn="l"/>
            <a:r>
              <a:rPr sz="1200" b="0">
                <a:solidFill>
                  <a:srgbClr val="9FB3D9"/>
                </a:solidFill>
                <a:latin typeface="Calibri"/>
              </a:rPr>
              <a:t>Full story, figures and sources: profiling_knowledge/qwen3_30b_a3b_mi355x_profiling/story/STORY.md · Confluence page 7166984214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